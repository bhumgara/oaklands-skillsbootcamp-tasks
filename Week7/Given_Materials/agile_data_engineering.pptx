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54"/>
  </p:notesMasterIdLst>
  <p:sldIdLst>
    <p:sldId id="256" r:id="rId2"/>
    <p:sldId id="289" r:id="rId3"/>
    <p:sldId id="257" r:id="rId4"/>
    <p:sldId id="258" r:id="rId5"/>
    <p:sldId id="290" r:id="rId6"/>
    <p:sldId id="259" r:id="rId7"/>
    <p:sldId id="291" r:id="rId8"/>
    <p:sldId id="292" r:id="rId9"/>
    <p:sldId id="293" r:id="rId10"/>
    <p:sldId id="260" r:id="rId11"/>
    <p:sldId id="261" r:id="rId12"/>
    <p:sldId id="262" r:id="rId13"/>
    <p:sldId id="263" r:id="rId14"/>
    <p:sldId id="265" r:id="rId15"/>
    <p:sldId id="266" r:id="rId16"/>
    <p:sldId id="267" r:id="rId17"/>
    <p:sldId id="268" r:id="rId18"/>
    <p:sldId id="294" r:id="rId19"/>
    <p:sldId id="295" r:id="rId20"/>
    <p:sldId id="296" r:id="rId21"/>
    <p:sldId id="297" r:id="rId22"/>
    <p:sldId id="269" r:id="rId23"/>
    <p:sldId id="270" r:id="rId24"/>
    <p:sldId id="298" r:id="rId25"/>
    <p:sldId id="299" r:id="rId26"/>
    <p:sldId id="300" r:id="rId27"/>
    <p:sldId id="301" r:id="rId28"/>
    <p:sldId id="302" r:id="rId29"/>
    <p:sldId id="304" r:id="rId30"/>
    <p:sldId id="305" r:id="rId31"/>
    <p:sldId id="303" r:id="rId32"/>
    <p:sldId id="271" r:id="rId33"/>
    <p:sldId id="272" r:id="rId34"/>
    <p:sldId id="306" r:id="rId35"/>
    <p:sldId id="307" r:id="rId36"/>
    <p:sldId id="308" r:id="rId37"/>
    <p:sldId id="309" r:id="rId38"/>
    <p:sldId id="273" r:id="rId39"/>
    <p:sldId id="274" r:id="rId40"/>
    <p:sldId id="275" r:id="rId41"/>
    <p:sldId id="276" r:id="rId42"/>
    <p:sldId id="277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  <p:sldId id="288" r:id="rId5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102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E8C02-C9F5-1625-46EB-1E4452B19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98002-5402-7204-B509-2F85FC65C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337D0-C5F0-0745-4822-FA5B529F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01206-3AAE-B22E-CC9A-18D7036F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4C8A1-6A7C-76F5-92F1-D4AFD6445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5222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7B11-8597-8E02-A17D-96F66B035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1500A-BE87-7C2E-6046-B9BF6B2F5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07150-4588-30DD-E40B-967246B0F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EFB04-5B3D-CEB6-5FDC-2DE2A0014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2EA1B-E432-7C6D-EC36-BD418275A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8457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FF0DA-B17F-49A8-8B69-38BEA989E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BEE9-1027-21C6-BF23-519A77B14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BC1EC-CC5D-99B9-2B5B-DA1B1C713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17AEF-F4A3-C7C6-6861-36BFA4367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4245F-AED1-FE71-C885-D72CEDF32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61565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60202-D49B-115D-94C5-D0096517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0937E-CB31-9861-D55A-B2B27DE270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6257C4-EE9F-26A0-5FE6-6E1318CFD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C8E00-DAB5-8FC8-609C-6667561D8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CAB82-429A-A668-0700-B0E2E56D5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54FDE-E913-46F5-65B6-012C0B2D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7280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5C49F-2699-0489-85FE-FDBAE37E0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98AB3-9818-3F01-4C09-588BCB849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E0603-33E8-DB46-08F5-687E29BFF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DE0C1-E7ED-A8CF-5EA9-5448C443E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8CAE8-8A5F-8F9C-426E-CC67EED87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86680E-1ED5-DE39-ABDA-9C90944B9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9900E-D838-B23E-3ED5-8313735B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2FBC07-4E6C-A224-165D-4E54F22C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9898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FBCD2-7137-BD87-17AE-75D66A11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8343E0-E5E8-91E3-750D-4AFFCA99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3ADA0-B12F-CBF9-5EFB-58256B9E9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3C6247-8F97-4D4B-6C9A-65919E665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51508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E2D060-ACA7-B198-4A0D-4A4304DA9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28C2A9-46FE-CBEF-86E0-4ACBBDD4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F4A48-0B02-03AC-56D6-4139ACF0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0113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1A17-DF18-8485-0F73-F687A7B8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D6D52-0A78-FDAA-C127-AD4893D78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BCF79-C3EE-B401-4C86-F58431E43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4A1AF-B011-BDA2-7FC8-1D9A7C0B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68465-DDBC-A7DF-E0F5-6AD250A9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70BE0-BF12-CD95-E0C5-519A17E2C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9652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B0F4-CA9C-B463-A8EE-C5253E821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957F31-74C3-084A-ECAC-C18BA1D82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9B019-1C18-6CDE-CF36-1371699F3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9FED8-F287-71EF-7BC7-284A81FB7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261F0-569D-4C29-F189-32DE8EF28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57B8E-6924-EDC2-258A-4A9787DB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2001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E417-535A-71B6-F6DC-7C1AA193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43230-C377-918A-C517-1B65156EE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B677C-9E06-45A1-47C4-609D9BA1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B1A07-FA60-664E-FB14-0F6948A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1BA63-0845-678E-6BBA-A2576F09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300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094B7-8F6F-E66F-D6D4-0A1C7080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C41D8-487A-94D9-CCB9-80D70C3B4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47C34-0FF9-A8E3-0ADC-C849A1B4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19597-CB12-3E09-EE85-2AB61E52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9F048-C6EC-68A6-9482-642A64DA0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5230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46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ED7217-3EA1-B10A-557D-B2964F0E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29AF1-CC15-22CE-8522-A418663D7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DB066-5445-E1A5-ACE2-8DA1EAE20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09F56-D6E9-43F7-7AE0-787464B59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715F9-43A2-4630-6079-C899766A9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098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e.kahoot.it/share/sdlc/f9bc4457-b3a0-4724-9639-cd30374570c3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01168" y="3383280"/>
            <a:ext cx="8942832" cy="176022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01168" y="3383280"/>
            <a:ext cx="894283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METHODOLOGY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Engineers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Outcomes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132320" y="457200"/>
            <a:ext cx="1371600" cy="13716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5669280" y="1097280"/>
            <a:ext cx="91440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34747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Covering: Agile Principles  •  Scrum &amp; Kanban  •  Data Pipeline Sprints  •  Real-World DE Examples  •  Quiz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3931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 Hours  |  Based on Agile Manifesto &amp; GeeksforGeeks Reference Materials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AF5EE6-E5B0-701A-C864-4BEAD712D528}"/>
              </a:ext>
            </a:extLst>
          </p:cNvPr>
          <p:cNvSpPr txBox="1"/>
          <p:nvPr/>
        </p:nvSpPr>
        <p:spPr>
          <a:xfrm>
            <a:off x="6950931" y="1517332"/>
            <a:ext cx="1852218" cy="2134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00" kern="120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SDLC Recap Quiz: </a:t>
            </a:r>
            <a:r>
              <a:rPr lang="en-US" sz="1500" kern="1200">
                <a:solidFill>
                  <a:schemeClr val="tx1"/>
                </a:solidFill>
                <a:latin typeface="+mj-lt"/>
                <a:ea typeface="+mj-ea"/>
                <a:cs typeface="+mj-cs"/>
                <a:hlinkClick r:id="rId2"/>
              </a:rPr>
              <a:t>https://create.kahoot.it/share/sdlc/f9bc4457-b3a0-4724-9639-cd30374570c3</a:t>
            </a:r>
            <a:br>
              <a:rPr lang="en-US" sz="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15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575480" y="-620425"/>
            <a:ext cx="1286609" cy="64375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6563" y="498231"/>
            <a:ext cx="6061974" cy="42002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62835" y="2544073"/>
            <a:ext cx="1289304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339DB4-F2E8-2E39-3A73-307F674DC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157839"/>
              </p:ext>
            </p:extLst>
          </p:nvPr>
        </p:nvGraphicFramePr>
        <p:xfrm>
          <a:off x="408928" y="855564"/>
          <a:ext cx="5706230" cy="3485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7631">
                  <a:extLst>
                    <a:ext uri="{9D8B030D-6E8A-4147-A177-3AD203B41FA5}">
                      <a16:colId xmlns:a16="http://schemas.microsoft.com/office/drawing/2014/main" val="800816252"/>
                    </a:ext>
                  </a:extLst>
                </a:gridCol>
                <a:gridCol w="1004097">
                  <a:extLst>
                    <a:ext uri="{9D8B030D-6E8A-4147-A177-3AD203B41FA5}">
                      <a16:colId xmlns:a16="http://schemas.microsoft.com/office/drawing/2014/main" val="5588183"/>
                    </a:ext>
                  </a:extLst>
                </a:gridCol>
                <a:gridCol w="1122173">
                  <a:extLst>
                    <a:ext uri="{9D8B030D-6E8A-4147-A177-3AD203B41FA5}">
                      <a16:colId xmlns:a16="http://schemas.microsoft.com/office/drawing/2014/main" val="4138091527"/>
                    </a:ext>
                  </a:extLst>
                </a:gridCol>
                <a:gridCol w="1515000">
                  <a:extLst>
                    <a:ext uri="{9D8B030D-6E8A-4147-A177-3AD203B41FA5}">
                      <a16:colId xmlns:a16="http://schemas.microsoft.com/office/drawing/2014/main" val="2526980987"/>
                    </a:ext>
                  </a:extLst>
                </a:gridCol>
                <a:gridCol w="947329">
                  <a:extLst>
                    <a:ext uri="{9D8B030D-6E8A-4147-A177-3AD203B41FA5}">
                      <a16:colId xmlns:a16="http://schemas.microsoft.com/office/drawing/2014/main" val="1033235820"/>
                    </a:ext>
                  </a:extLst>
                </a:gridCol>
              </a:tblGrid>
              <a:tr h="3011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Question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Option A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Option B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Option C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Option D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extLst>
                  <a:ext uri="{0D108BD9-81ED-4DB2-BD59-A6C34878D82A}">
                    <a16:rowId xmlns:a16="http://schemas.microsoft.com/office/drawing/2014/main" val="2382217346"/>
                  </a:ext>
                </a:extLst>
              </a:tr>
              <a:tr h="5409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What is testing?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Writing code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Finding errors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Designing UI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Storing data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extLst>
                  <a:ext uri="{0D108BD9-81ED-4DB2-BD59-A6C34878D82A}">
                    <a16:rowId xmlns:a16="http://schemas.microsoft.com/office/drawing/2014/main" val="1579075162"/>
                  </a:ext>
                </a:extLst>
              </a:tr>
              <a:tr h="780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Manual testing is done by?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Machines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Humans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AI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Servers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extLst>
                  <a:ext uri="{0D108BD9-81ED-4DB2-BD59-A6C34878D82A}">
                    <a16:rowId xmlns:a16="http://schemas.microsoft.com/office/drawing/2014/main" val="3094194398"/>
                  </a:ext>
                </a:extLst>
              </a:tr>
              <a:tr h="780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Automated testing is best for?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UI design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Repetitive tasks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Documentation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Meetings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extLst>
                  <a:ext uri="{0D108BD9-81ED-4DB2-BD59-A6C34878D82A}">
                    <a16:rowId xmlns:a16="http://schemas.microsoft.com/office/drawing/2014/main" val="1234612417"/>
                  </a:ext>
                </a:extLst>
              </a:tr>
              <a:tr h="5409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What is a bug?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Feature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Error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Design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Tool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extLst>
                  <a:ext uri="{0D108BD9-81ED-4DB2-BD59-A6C34878D82A}">
                    <a16:rowId xmlns:a16="http://schemas.microsoft.com/office/drawing/2014/main" val="575729057"/>
                  </a:ext>
                </a:extLst>
              </a:tr>
              <a:tr h="5409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Which is faster?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Manual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Automated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Both same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None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083" marR="9083" marT="9083" marB="0" anchor="b"/>
                </a:tc>
                <a:extLst>
                  <a:ext uri="{0D108BD9-81ED-4DB2-BD59-A6C34878D82A}">
                    <a16:rowId xmlns:a16="http://schemas.microsoft.com/office/drawing/2014/main" val="3611059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387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Practical Agile for Data Engineers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325880" cy="3474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1051560"/>
            <a:ext cx="960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600200" y="10515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051560"/>
            <a:ext cx="6309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697480" y="1051560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Agile? Why it Matters for Data Engineers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17904"/>
            <a:ext cx="132588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74320" y="15179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 – 0:50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517904"/>
            <a:ext cx="960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600200" y="151790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1517904"/>
            <a:ext cx="6309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697480" y="1517904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Agile Principles — Data Engineering Context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984248"/>
            <a:ext cx="1325880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74320" y="19842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 – 1:20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00200" y="1984248"/>
            <a:ext cx="960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600200" y="198424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1984248"/>
            <a:ext cx="6309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697480" y="198424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Framework: Sprints, Standups &amp; Backlogs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450592"/>
            <a:ext cx="1325880" cy="3474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74320" y="24505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 – 1:40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00200" y="2450592"/>
            <a:ext cx="960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600200" y="2450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0" y="2450592"/>
            <a:ext cx="6309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697480" y="2450592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for Data Pipelines — Real-Time Workflow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916936"/>
            <a:ext cx="132588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74320" y="2916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1:40 – 2:10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00200" y="2916936"/>
            <a:ext cx="960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600200" y="291693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0" y="2916936"/>
            <a:ext cx="6309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2697480" y="2916936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DE in Practice: Real-World Examples &amp; Exercises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383280"/>
            <a:ext cx="1325880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274320" y="3383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2:10 – 2:30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00200" y="3383280"/>
            <a:ext cx="960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1600200" y="33832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0" y="3383280"/>
            <a:ext cx="6309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2697480" y="3383280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Tools: Jira, Confluence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3849624"/>
            <a:ext cx="1325880" cy="3474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274320" y="384962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 – 2:45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600200" y="3849624"/>
            <a:ext cx="960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1600200" y="38496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0" y="3849624"/>
            <a:ext cx="6309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2697480" y="3849624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&amp; Best Practices in the Software Development (Agile)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4315968"/>
            <a:ext cx="132588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274320" y="43159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 – 3:00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600200" y="4315968"/>
            <a:ext cx="960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1600200" y="43159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60320" y="4315968"/>
            <a:ext cx="6309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2697480" y="431596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(15 min) + Wrap-Up &amp; Q&amp;A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Agile?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foundation — and why every Data Engineer needs it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4E5F78-CDB9-42EB-5E64-02C437C9CC55}"/>
              </a:ext>
            </a:extLst>
          </p:cNvPr>
          <p:cNvSpPr txBox="1"/>
          <p:nvPr/>
        </p:nvSpPr>
        <p:spPr>
          <a:xfrm>
            <a:off x="616085" y="1140183"/>
            <a:ext cx="76329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Project Example </a:t>
            </a:r>
          </a:p>
          <a:p>
            <a:pPr>
              <a:buNone/>
            </a:pPr>
            <a:endParaRPr lang="en-GB" b="1" dirty="0"/>
          </a:p>
          <a:p>
            <a:pPr>
              <a:buNone/>
            </a:pPr>
            <a:r>
              <a:rPr lang="en-GB" dirty="0"/>
              <a:t>We are building a system that </a:t>
            </a:r>
            <a:r>
              <a:rPr lang="en-GB" b="1" dirty="0"/>
              <a:t>scrapes football match ticket listings from eBay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The system will allow users 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Find tickets for teams like Manchester United, Liverpool FC, Arsenal FC, Chelsea FC, and Tottenham Hotspur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Compare ticket prices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Place </a:t>
            </a:r>
            <a:r>
              <a:rPr lang="en-GB" b="1" dirty="0"/>
              <a:t>small bids</a:t>
            </a:r>
            <a:r>
              <a:rPr lang="en-GB" dirty="0"/>
              <a:t> on tickets</a:t>
            </a:r>
          </a:p>
        </p:txBody>
      </p:sp>
    </p:spTree>
    <p:extLst>
      <p:ext uri="{BB962C8B-B14F-4D97-AF65-F5344CB8AC3E}">
        <p14:creationId xmlns:p14="http://schemas.microsoft.com/office/powerpoint/2010/main" val="2868592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Agile Methodology?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Foundation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9326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is an iterative approach to project management and software delivery that focuses on collaboration, customer feedback, and rapid releases.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64008" cy="9144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1920240" cy="3657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cycles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 (Sprints)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192024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514600" y="1920240"/>
            <a:ext cx="192024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5146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28600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Embrace changing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92024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663440" y="1920240"/>
            <a:ext cx="1920240" cy="3657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6634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28600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ownership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192024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812280" y="1920240"/>
            <a:ext cx="19202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81228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Value-Driven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228600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working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often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Facebook • Google • Amazon • Netflix • Spotify — and leading Data teams worldwide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3CA128-B60C-BF69-D890-35B2C209FC94}"/>
              </a:ext>
            </a:extLst>
          </p:cNvPr>
          <p:cNvSpPr txBox="1"/>
          <p:nvPr/>
        </p:nvSpPr>
        <p:spPr>
          <a:xfrm>
            <a:off x="129702" y="0"/>
            <a:ext cx="88845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 </a:t>
            </a:r>
          </a:p>
          <a:p>
            <a:pPr>
              <a:buNone/>
            </a:pPr>
            <a:r>
              <a:rPr lang="en-GB" sz="1600" b="1" dirty="0">
                <a:highlight>
                  <a:srgbClr val="FFFF00"/>
                </a:highlight>
              </a:rPr>
              <a:t>How Agile is Used in This Project</a:t>
            </a:r>
          </a:p>
          <a:p>
            <a:pPr>
              <a:buNone/>
            </a:pPr>
            <a:r>
              <a:rPr lang="en-GB" sz="1600" dirty="0"/>
              <a:t>Agile means building the system </a:t>
            </a:r>
            <a:r>
              <a:rPr lang="en-GB" sz="1600" b="1" dirty="0"/>
              <a:t>step by step</a:t>
            </a:r>
            <a:r>
              <a:rPr lang="en-GB" sz="1600" dirty="0"/>
              <a:t>, improving it based on feedback.</a:t>
            </a:r>
          </a:p>
          <a:p>
            <a:pPr>
              <a:buNone/>
            </a:pPr>
            <a:endParaRPr lang="en-GB" sz="1600" dirty="0"/>
          </a:p>
          <a:p>
            <a:pPr>
              <a:buNone/>
            </a:pPr>
            <a:endParaRPr lang="en-GB" sz="1600" b="1" dirty="0"/>
          </a:p>
          <a:p>
            <a:pPr>
              <a:buNone/>
            </a:pPr>
            <a:r>
              <a:rPr lang="en-GB" sz="1600" b="1" dirty="0"/>
              <a:t>1. Iterative Approach (Build in Small Steps)</a:t>
            </a:r>
          </a:p>
          <a:p>
            <a:pPr>
              <a:buNone/>
            </a:pPr>
            <a:r>
              <a:rPr lang="en-GB" sz="1600" dirty="0"/>
              <a:t>We develop the system in </a:t>
            </a:r>
            <a:r>
              <a:rPr lang="en-GB" sz="1600" b="1" dirty="0"/>
              <a:t>small iterations (sprints)</a:t>
            </a:r>
            <a:r>
              <a:rPr lang="en-GB" sz="1600" dirty="0"/>
              <a:t>.</a:t>
            </a:r>
          </a:p>
          <a:p>
            <a:pPr>
              <a:buNone/>
            </a:pPr>
            <a:r>
              <a:rPr lang="en-GB" sz="1600" b="1" dirty="0"/>
              <a:t>Example Iterations: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b="1" dirty="0"/>
              <a:t>Sprint 1:</a:t>
            </a:r>
            <a:br>
              <a:rPr lang="en-GB" sz="1600" dirty="0"/>
            </a:br>
            <a:r>
              <a:rPr lang="en-GB" sz="1600" dirty="0"/>
              <a:t>Build a scraper to collect ticket data for teams like Manchester United and Liverpool.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b="1" dirty="0"/>
              <a:t>Sprint 2:</a:t>
            </a:r>
            <a:br>
              <a:rPr lang="en-GB" sz="1600" dirty="0"/>
            </a:br>
            <a:r>
              <a:rPr lang="en-GB" sz="1600" dirty="0"/>
              <a:t>Add a filter so users can search tickets by team (e.g., Arsenal or Chelsea).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b="1" dirty="0"/>
              <a:t>Sprint 3:</a:t>
            </a:r>
            <a:br>
              <a:rPr lang="en-GB" sz="1600" dirty="0"/>
            </a:br>
            <a:r>
              <a:rPr lang="en-GB" sz="1600" dirty="0"/>
              <a:t>Add a bidding system for users to place small bids.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600" b="1" dirty="0"/>
              <a:t>Sprint 4:</a:t>
            </a:r>
            <a:br>
              <a:rPr lang="en-GB" sz="1600" dirty="0"/>
            </a:br>
            <a:r>
              <a:rPr lang="en-GB" sz="1600" dirty="0"/>
              <a:t>Improve the interface and show cheapest tickets first.</a:t>
            </a:r>
          </a:p>
          <a:p>
            <a:pPr>
              <a:buNone/>
            </a:pPr>
            <a:endParaRPr lang="en-GB" sz="1600" dirty="0"/>
          </a:p>
          <a:p>
            <a:pPr>
              <a:buNone/>
            </a:pPr>
            <a:r>
              <a:rPr lang="en-GB" sz="1600" dirty="0"/>
              <a:t>Each sprint delivers a </a:t>
            </a:r>
            <a:r>
              <a:rPr lang="en-GB" sz="1600" b="1" dirty="0"/>
              <a:t>working feature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995228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CD7EF0-50D1-FB4F-0926-F927F73213B7}"/>
              </a:ext>
            </a:extLst>
          </p:cNvPr>
          <p:cNvSpPr txBox="1"/>
          <p:nvPr/>
        </p:nvSpPr>
        <p:spPr>
          <a:xfrm>
            <a:off x="272374" y="256403"/>
            <a:ext cx="859925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2. Adaptive Approach (Respond to Changes)</a:t>
            </a:r>
          </a:p>
          <a:p>
            <a:pPr>
              <a:buNone/>
            </a:pPr>
            <a:r>
              <a:rPr lang="en-GB" dirty="0"/>
              <a:t>We change the system based on user feedback.</a:t>
            </a:r>
          </a:p>
          <a:p>
            <a:pPr>
              <a:buNone/>
            </a:pPr>
            <a:r>
              <a:rPr lang="en-GB" b="1" dirty="0"/>
              <a:t>Example: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Users say: “We want alerts when cheap Tottenham tickets are available.”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The team adds a </a:t>
            </a:r>
            <a:r>
              <a:rPr lang="en-GB" b="1" dirty="0"/>
              <a:t>notification feature</a:t>
            </a:r>
            <a:r>
              <a:rPr lang="en-GB" dirty="0"/>
              <a:t> in the next sprint.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The system is flexible and </a:t>
            </a:r>
            <a:r>
              <a:rPr lang="en-GB" b="1" dirty="0"/>
              <a:t>adapts to user needs</a:t>
            </a:r>
            <a:r>
              <a:rPr lang="en-GB" dirty="0"/>
              <a:t>.</a:t>
            </a:r>
          </a:p>
          <a:p>
            <a:pPr>
              <a:buNone/>
            </a:pPr>
            <a:br>
              <a:rPr lang="en-GB" dirty="0"/>
            </a:br>
            <a:endParaRPr lang="en-GB" dirty="0">
              <a:highlight>
                <a:srgbClr val="FFFF00"/>
              </a:highlight>
            </a:endParaRPr>
          </a:p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3. Collaborative Approach (Teamwork)</a:t>
            </a:r>
          </a:p>
          <a:p>
            <a:pPr>
              <a:buNone/>
            </a:pPr>
            <a:r>
              <a:rPr lang="en-GB" dirty="0"/>
              <a:t>Different people work together: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Developers → Build scraping and bidding features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Testers → Check ticket data accuracy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Users → Give feedback (e.g., easier search for Chelsea tickets)</a:t>
            </a:r>
          </a:p>
          <a:p>
            <a:pPr>
              <a:buNone/>
            </a:pPr>
            <a:r>
              <a:rPr lang="en-GB" dirty="0"/>
              <a:t>Continuous communication improves the system.</a:t>
            </a:r>
          </a:p>
        </p:txBody>
      </p:sp>
    </p:spTree>
    <p:extLst>
      <p:ext uri="{BB962C8B-B14F-4D97-AF65-F5344CB8AC3E}">
        <p14:creationId xmlns:p14="http://schemas.microsoft.com/office/powerpoint/2010/main" val="418330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B3A865-ECBB-C9DA-E7E3-A378DD24A63D}"/>
              </a:ext>
            </a:extLst>
          </p:cNvPr>
          <p:cNvSpPr txBox="1"/>
          <p:nvPr/>
        </p:nvSpPr>
        <p:spPr>
          <a:xfrm>
            <a:off x="304800" y="1001684"/>
            <a:ext cx="6553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4. Value-Driven Approach (Focus on What Matters)</a:t>
            </a:r>
          </a:p>
          <a:p>
            <a:pPr>
              <a:buNone/>
            </a:pPr>
            <a:endParaRPr lang="en-GB" b="1" dirty="0"/>
          </a:p>
          <a:p>
            <a:pPr>
              <a:buNone/>
            </a:pPr>
            <a:r>
              <a:rPr lang="en-GB" dirty="0"/>
              <a:t>We build the </a:t>
            </a:r>
            <a:r>
              <a:rPr lang="en-GB" b="1" dirty="0"/>
              <a:t>most important features first</a:t>
            </a:r>
            <a:r>
              <a:rPr lang="en-GB" dirty="0"/>
              <a:t>.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b="1" dirty="0"/>
              <a:t>Example Priority: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Get ticket data from eBay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Allow users to search by team (e.g., Liverpool, Arsenal)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Add bidding feature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Add extra features (alerts, UI improvements)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We deliver </a:t>
            </a:r>
            <a:r>
              <a:rPr lang="en-GB" b="1" dirty="0"/>
              <a:t>useful features early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7772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vs Waterfall — A Data Engineer's Perspective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Foundation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9776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960120"/>
            <a:ext cx="3977640" cy="38404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892040" y="9601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444752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65760" y="144475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pipeline schema upfront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1554480"/>
            <a:ext cx="640080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251960" y="15544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1444752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983480" y="144475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evolves sprint-by-sprint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938528"/>
            <a:ext cx="3977640" cy="43891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65760" y="193852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Big-bang data releases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51960" y="2048256"/>
            <a:ext cx="640080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251960" y="20482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92040" y="1938528"/>
            <a:ext cx="3977640" cy="43891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983480" y="193852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dataset deliveries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432304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65760" y="243230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feedback cycles (months)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51960" y="2542032"/>
            <a:ext cx="640080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251960" y="25420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2432304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983480" y="243230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every 2 weeks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3977640" cy="43891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65760" y="29260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locked at start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51960" y="3035808"/>
            <a:ext cx="640080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251960" y="30358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2926080"/>
            <a:ext cx="3977640" cy="43891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983480" y="29260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adapt to data needs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419856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5" name="Text 33"/>
          <p:cNvSpPr/>
          <p:nvPr/>
        </p:nvSpPr>
        <p:spPr>
          <a:xfrm>
            <a:off x="365760" y="341985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→ Analytics 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51960" y="3529584"/>
            <a:ext cx="640080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251960" y="35295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3419856"/>
            <a:ext cx="3977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983480" y="341985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ownership, daily stand-ups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913632"/>
            <a:ext cx="3977640" cy="43891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365760" y="391363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at end, costly fixes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51960" y="4023360"/>
            <a:ext cx="640080" cy="2194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251960" y="40233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92040" y="3913632"/>
            <a:ext cx="3977640" cy="438912"/>
          </a:xfrm>
          <a:prstGeom prst="rect">
            <a:avLst/>
          </a:prstGeom>
          <a:solidFill>
            <a:srgbClr val="EEF4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4983480" y="391363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embedded in every sprint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Development Stages — Applied to Data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Foundation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234440" cy="38404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Requirements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1234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74320" y="1389888"/>
            <a:ext cx="1234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needs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08760" y="2240280"/>
            <a:ext cx="228600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737360" y="1005840"/>
            <a:ext cx="123444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737360" y="1005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Design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737360" y="1389888"/>
            <a:ext cx="1234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737360" y="1389888"/>
            <a:ext cx="1234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architecture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71800" y="2240280"/>
            <a:ext cx="228600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1234440" cy="38404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200400" y="1005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Development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1389888"/>
            <a:ext cx="1234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200400" y="1389888"/>
            <a:ext cx="1234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2240280"/>
            <a:ext cx="228600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12344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663440" y="1005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389888"/>
            <a:ext cx="1234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663440" y="1389888"/>
            <a:ext cx="1234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checks, unit tests,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97880" y="2240280"/>
            <a:ext cx="228600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126480" y="1005840"/>
            <a:ext cx="1234440" cy="38404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126480" y="1005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Deployment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1389888"/>
            <a:ext cx="1234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126480" y="1389888"/>
            <a:ext cx="1234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to prod,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/ dbt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60920" y="2240280"/>
            <a:ext cx="228600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589520" y="1005840"/>
            <a:ext cx="123444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589520" y="1005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Review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89520" y="1389888"/>
            <a:ext cx="12344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7589520" y="1389888"/>
            <a:ext cx="1234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 review,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 plan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703320"/>
            <a:ext cx="8595360" cy="594360"/>
          </a:xfrm>
          <a:prstGeom prst="rect">
            <a:avLst/>
          </a:prstGeom>
          <a:solidFill>
            <a:srgbClr val="E8F4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65760" y="3703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 Agile loops back: After Review, the team returns to Requirements for the NEXT sprint — continuous improvement every 2 weeks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Agile Principles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each principle to real Data Engineering scenarios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Principles of the Agile Manifesto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Principles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292608" cy="56692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28600" y="100584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7784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data products early &amp; continuously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292608" cy="56692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09160" y="100584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38344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Change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38344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source? Schema shift? Adapt mid-sprint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1682496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28600" y="1682496"/>
            <a:ext cx="292608" cy="56692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28600" y="1682496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Delivery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7784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pipeline increments every 2 weeks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682496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709160" y="1682496"/>
            <a:ext cx="292608" cy="5669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709160" y="1682496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38344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Daily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38344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+ Analysts + Product stand-ups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2359152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228600" y="2359152"/>
            <a:ext cx="292608" cy="5669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28600" y="2359152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Individuals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7784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your data engineers, remove blockers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359152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709160" y="2359152"/>
            <a:ext cx="292608" cy="5669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709160" y="2359152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38344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 Communications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38344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reviews &gt; long Slack threads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3035808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228600" y="3035808"/>
            <a:ext cx="292608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28600" y="3035808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7784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7784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pipeline = primary progress metric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035808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4709160" y="3035808"/>
            <a:ext cx="292608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709160" y="3035808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38344" y="3035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Pace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38344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crunch — sustainable data delivery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28600" y="3712464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228600" y="3712464"/>
            <a:ext cx="292608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228600" y="3712464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57784" y="3712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57784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quality, dbt best practices, testing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09160" y="3712464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4709160" y="3712464"/>
            <a:ext cx="292608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4709160" y="3712464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038344" y="3712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038344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over-engineer pipelines — do the minimum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28600" y="4389120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228600" y="4389120"/>
            <a:ext cx="292608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228600" y="438912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57784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Self-Organizing Teams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57784" y="4663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team owns the pipeline end-to-end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09160" y="4389120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4709160" y="4389120"/>
            <a:ext cx="292608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4709160" y="438912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038344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&amp; Adjust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038344" y="4663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 every 2 weeks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Framework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Sprints, backlogs, standups — the engine of Agile Data teams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Framework — Roles &amp; Ceremonies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Scrum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3474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ROLES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0759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5760" y="1307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Prioritises data backlog, defines business value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19656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65760" y="1819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02082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blockers (slow infra, unclear requirements)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5328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Engineers, Analysts, ML Engineers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0" y="960120"/>
            <a:ext cx="54864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383280" y="9601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CEREMONIES (for Data Engineering)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1307592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383280" y="1307592"/>
            <a:ext cx="4572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493008" y="1307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01768" y="1417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93008" y="15087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pipeline tasks for the 2-week sprint from backlog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1819656"/>
            <a:ext cx="5486400" cy="457200"/>
          </a:xfrm>
          <a:prstGeom prst="rect">
            <a:avLst/>
          </a:prstGeom>
          <a:solidFill>
            <a:srgbClr val="F5F9FC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383280" y="1819656"/>
            <a:ext cx="4572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493008" y="181965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01768" y="19293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93008" y="202082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Yesterday: Built ingestion. Today: Writing transformations. Blocker: S3 permissions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2331720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383280" y="2331720"/>
            <a:ext cx="4572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493008" y="23317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01768" y="24414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93008" y="253288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the working pipeline to stakeholders; show data in dashboard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83280" y="2843784"/>
            <a:ext cx="5486400" cy="457200"/>
          </a:xfrm>
          <a:prstGeom prst="rect">
            <a:avLst/>
          </a:prstGeom>
          <a:solidFill>
            <a:srgbClr val="F5F9FC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3383280" y="2843784"/>
            <a:ext cx="4572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3493008" y="28437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01768" y="2953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93008" y="30449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well? What slowed us? How do we improve next sprint?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83280" y="3355848"/>
            <a:ext cx="5486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3383280" y="3355848"/>
            <a:ext cx="4572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3493008" y="33558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Refinement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01768" y="34655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93008" y="355701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upcoming stories: 'Build customer churn model' → subtasks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2-Week Data Engineering Sprint — Walkthrough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Scrum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1993392" cy="3474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56032" y="9601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307592"/>
            <a:ext cx="199339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56032" y="13075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61848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47472" y="1664208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product backlog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Estimate story points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Commit to pipeline tasks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sprint goal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32304" y="960120"/>
            <a:ext cx="1993392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432304" y="9601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3–8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32304" y="1307592"/>
            <a:ext cx="199339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432304" y="13075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Development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32304" y="161848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523744" y="1664208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ingestion jobs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dbt transformations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standups (15 min)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reviews &amp; testing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960120"/>
            <a:ext cx="1993392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608576" y="9601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08576" y="1307592"/>
            <a:ext cx="199339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608576" y="13075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QA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08576" y="161848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700016" y="1664208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End-to-end pipeline 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quality checks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 blockers identified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Stakeholder preview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84848" y="960120"/>
            <a:ext cx="199339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784848" y="9601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84848" y="1307592"/>
            <a:ext cx="199339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784848" y="13075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Close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84848" y="1618488"/>
            <a:ext cx="199339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876288" y="1664208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Sprint Review demo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Retrospective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to production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backlog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3703320"/>
            <a:ext cx="8631936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1" name="Text 29"/>
          <p:cNvSpPr/>
          <p:nvPr/>
        </p:nvSpPr>
        <p:spPr>
          <a:xfrm>
            <a:off x="365760" y="3703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Backlog — Real User Stories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Scrum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follow: "As a [role], I want [feature] so that [benefit]"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54864" cy="5486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20624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Epic: Customer 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0624" y="1673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Analyst, I want a daily-refreshed customer_orders dbt model so that I can build churn reports.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0" y="1508760"/>
            <a:ext cx="594360" cy="3474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29600" y="15087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020824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74320" y="2020824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20624" y="2020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Epic: Data Quality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0624" y="22768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Data Engineer, I want Great Expectations checks on the orders table so that bad data never reaches production.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2112264"/>
            <a:ext cx="59436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229600" y="211226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24328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4320" y="2624328"/>
            <a:ext cx="54864" cy="5486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20624" y="2624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Epic: Streaming Pipeline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0624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Product Manager, I want real-time Kafka events from checkout so that we can monitor drop-off instantly.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0" y="2715768"/>
            <a:ext cx="594360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229600" y="271576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27832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274320" y="3227832"/>
            <a:ext cx="54864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20624" y="3227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Epic: Infrastructure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0624" y="34838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Data Engineer, I want Airflow DAGs to retry failed tasks automatically so that we don't need manual re-runs overnight.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0" y="3319272"/>
            <a:ext cx="594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229600" y="331927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831336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74320" y="3831336"/>
            <a:ext cx="54864" cy="5486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20624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Epic: Reporting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0624" y="4087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Finance Lead, I want a reconciled revenue table with source-of-truth logic so that monthly reports are consistent.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0" y="3922776"/>
            <a:ext cx="594360" cy="3474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8229600" y="392277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E766D-9111-F33E-7B5B-F044408F25A2}"/>
              </a:ext>
            </a:extLst>
          </p:cNvPr>
          <p:cNvSpPr txBox="1"/>
          <p:nvPr/>
        </p:nvSpPr>
        <p:spPr>
          <a:xfrm>
            <a:off x="486383" y="586185"/>
            <a:ext cx="79961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What is a User Story?</a:t>
            </a:r>
          </a:p>
          <a:p>
            <a:pPr>
              <a:buNone/>
            </a:pPr>
            <a:r>
              <a:rPr lang="en-GB" dirty="0"/>
              <a:t>A user story follows this format:</a:t>
            </a:r>
          </a:p>
          <a:p>
            <a:pPr>
              <a:buNone/>
            </a:pPr>
            <a:r>
              <a:rPr lang="en-GB" dirty="0"/>
              <a:t> </a:t>
            </a:r>
            <a:r>
              <a:rPr lang="en-GB" i="1" dirty="0"/>
              <a:t>“As a [user], I want [feature] so that [benefit].”</a:t>
            </a:r>
            <a:endParaRPr lang="en-GB" dirty="0"/>
          </a:p>
          <a:p>
            <a:pPr>
              <a:buNone/>
            </a:pP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b="1" dirty="0"/>
              <a:t> User Stories for the Project</a:t>
            </a:r>
          </a:p>
          <a:p>
            <a:pPr>
              <a:buNone/>
            </a:pPr>
            <a:r>
              <a:rPr lang="en-GB" b="1" dirty="0"/>
              <a:t> 1. Viewing Tickets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As a user, I want to view football tickets from eBay so that I can see available matches.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As a user, I want to see tickets for teams like Manchester United and Liverpool FC so that I can choose my favourite team.</a:t>
            </a:r>
          </a:p>
        </p:txBody>
      </p:sp>
    </p:spTree>
    <p:extLst>
      <p:ext uri="{BB962C8B-B14F-4D97-AF65-F5344CB8AC3E}">
        <p14:creationId xmlns:p14="http://schemas.microsoft.com/office/powerpoint/2010/main" val="1221115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E94A22-4574-CB9E-22D8-A3F89E09B454}"/>
              </a:ext>
            </a:extLst>
          </p:cNvPr>
          <p:cNvSpPr txBox="1"/>
          <p:nvPr/>
        </p:nvSpPr>
        <p:spPr>
          <a:xfrm>
            <a:off x="350196" y="611674"/>
            <a:ext cx="813232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 2. Searching &amp; Filtering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As a user, I want to filter tickets by team (e.g., Arsenal FC, Chelsea FC) so that I can quickly find relevant matches.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As a user, I want to sort tickets by price so that I can find the cheapest options.</a:t>
            </a:r>
          </a:p>
          <a:p>
            <a:pPr>
              <a:buNone/>
            </a:pP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b="1" dirty="0"/>
              <a:t> 3. Bidding System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As a user, I want to place a small bid on a ticket so that I can try to buy it at a lower price.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As a user, I want to see the current highest bid so that I can decide how much to bid.</a:t>
            </a:r>
          </a:p>
          <a:p>
            <a:pPr>
              <a:buNone/>
            </a:pP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5983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BAE74-0109-A71E-4640-70B2430B0047}"/>
              </a:ext>
            </a:extLst>
          </p:cNvPr>
          <p:cNvSpPr txBox="1"/>
          <p:nvPr/>
        </p:nvSpPr>
        <p:spPr>
          <a:xfrm>
            <a:off x="278860" y="586185"/>
            <a:ext cx="83593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 4. Notifications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As a user, I want to receive alerts when cheap tickets for Tottenham Hotspur are available so that I don’t miss good deals.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As a user, I want notifications when I am outbid so that I can place a higher bid if needed.</a:t>
            </a:r>
          </a:p>
          <a:p>
            <a:pPr>
              <a:buNone/>
            </a:pP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b="1" dirty="0"/>
              <a:t> 5. User Account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As a user, I want to create an account so that I can manage my bids.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As a user, I want to log in so that I can access my saved tickets and bids.</a:t>
            </a:r>
          </a:p>
        </p:txBody>
      </p:sp>
    </p:spTree>
    <p:extLst>
      <p:ext uri="{BB962C8B-B14F-4D97-AF65-F5344CB8AC3E}">
        <p14:creationId xmlns:p14="http://schemas.microsoft.com/office/powerpoint/2010/main" val="5643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2625CE-6E1A-4D0E-7379-43084E042BDD}"/>
              </a:ext>
            </a:extLst>
          </p:cNvPr>
          <p:cNvSpPr txBox="1"/>
          <p:nvPr/>
        </p:nvSpPr>
        <p:spPr>
          <a:xfrm>
            <a:off x="629055" y="586185"/>
            <a:ext cx="78923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 6. User Experience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As a user, I want a simple interface so that I can easily find and bid on tickets.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As a user, I want ticket details (date, team, price) clearly displayed so that I can make quick decisions.</a:t>
            </a:r>
          </a:p>
          <a:p>
            <a:pPr>
              <a:buNone/>
            </a:pP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b="1" dirty="0"/>
              <a:t> 7. System &amp; Reliability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As a developer, I want the system to scrape data accurately so that users get correct ticket information.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As a system, I want to update ticket listings regularly so that users see the latest data.</a:t>
            </a:r>
          </a:p>
        </p:txBody>
      </p:sp>
    </p:spTree>
    <p:extLst>
      <p:ext uri="{BB962C8B-B14F-4D97-AF65-F5344CB8AC3E}">
        <p14:creationId xmlns:p14="http://schemas.microsoft.com/office/powerpoint/2010/main" val="3006200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for Data Pipelines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workflow management for continuous data delivery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 — Data Engineering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Kanban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011680" cy="36576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28600" y="960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18288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8899AA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93192" y="1490472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18288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8899AA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93192" y="2258568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connector for events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980944"/>
            <a:ext cx="18288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8899AA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93192" y="302666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docs update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18288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8899AA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93192" y="379476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old S3 partitions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04872" y="960120"/>
            <a:ext cx="201168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404872" y="960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04872" y="132588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496312" y="1444752"/>
            <a:ext cx="18288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FF6B3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569464" y="1490472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model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96312" y="2212848"/>
            <a:ext cx="18288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FF6B3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569464" y="2258568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ingestion Airflow DAG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96312" y="2980944"/>
            <a:ext cx="18288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FF6B35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569464" y="302666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null handling in revenue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81144" y="960120"/>
            <a:ext cx="2011680" cy="3657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581144" y="960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QA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81144" y="132588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672584" y="1444752"/>
            <a:ext cx="18288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1B7F7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745736" y="1490472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test suite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72584" y="2212848"/>
            <a:ext cx="1828800" cy="621792"/>
          </a:xfrm>
          <a:prstGeom prst="rect">
            <a:avLst/>
          </a:prstGeom>
          <a:solidFill>
            <a:srgbClr val="FAFBFC"/>
          </a:solidFill>
          <a:ln w="12700">
            <a:solidFill>
              <a:srgbClr val="1B7F79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745736" y="2258568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cost query optim.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57416" y="960120"/>
            <a:ext cx="2011680" cy="3657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757416" y="960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57416" y="132588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848856" y="1444752"/>
            <a:ext cx="182880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2EC4B6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922008" y="1490472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events table migrated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48856" y="2212848"/>
            <a:ext cx="182880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2EC4B6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922008" y="2258568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configured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48856" y="2980944"/>
            <a:ext cx="182880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2EC4B6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922008" y="302666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 set up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48856" y="3749040"/>
            <a:ext cx="182880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2EC4B6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922008" y="379476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docs published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47BDD5-EF25-0380-AAE4-8BFC0F5FFFF9}"/>
              </a:ext>
            </a:extLst>
          </p:cNvPr>
          <p:cNvSpPr txBox="1"/>
          <p:nvPr/>
        </p:nvSpPr>
        <p:spPr>
          <a:xfrm>
            <a:off x="421532" y="724685"/>
            <a:ext cx="83917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Kanban Board — Data Engineering Workflow</a:t>
            </a:r>
          </a:p>
          <a:p>
            <a:pPr>
              <a:buNone/>
            </a:pPr>
            <a:r>
              <a:rPr lang="en-GB" i="1" dirty="0"/>
              <a:t>(Football Ticket Scraping System)</a:t>
            </a:r>
            <a:endParaRPr lang="en-GB" dirty="0"/>
          </a:p>
          <a:p>
            <a:pPr>
              <a:buNone/>
            </a:pPr>
            <a:br>
              <a:rPr lang="en-GB" dirty="0"/>
            </a:br>
            <a:endParaRPr lang="en-GB" dirty="0">
              <a:highlight>
                <a:srgbClr val="FFFF00"/>
              </a:highlight>
            </a:endParaRPr>
          </a:p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Backlog (Planned Tasks)</a:t>
            </a:r>
          </a:p>
          <a:p>
            <a:pPr>
              <a:buNone/>
            </a:pPr>
            <a:r>
              <a:rPr lang="en-GB" dirty="0"/>
              <a:t>Tasks that are not started yet.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Identify data source (eBay ticket listings)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Define required data (team, price, date, bids)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Plan system architecture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Decide tools (Python, APIs, database)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Create user stories</a:t>
            </a:r>
          </a:p>
        </p:txBody>
      </p:sp>
    </p:spTree>
    <p:extLst>
      <p:ext uri="{BB962C8B-B14F-4D97-AF65-F5344CB8AC3E}">
        <p14:creationId xmlns:p14="http://schemas.microsoft.com/office/powerpoint/2010/main" val="3746565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EE7969-CA38-48F8-8A74-E2F83CC1D929}"/>
              </a:ext>
            </a:extLst>
          </p:cNvPr>
          <p:cNvSpPr txBox="1"/>
          <p:nvPr/>
        </p:nvSpPr>
        <p:spPr>
          <a:xfrm>
            <a:off x="667965" y="447686"/>
            <a:ext cx="75421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To Do (Ready to Start)</a:t>
            </a:r>
          </a:p>
          <a:p>
            <a:pPr>
              <a:buNone/>
            </a:pPr>
            <a:r>
              <a:rPr lang="en-GB" dirty="0"/>
              <a:t>Tasks selected for the next sprint.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Build basic web scraper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Extract ticket data (team names, prices)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Store raw data in database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Design simple UI layout</a:t>
            </a:r>
          </a:p>
          <a:p>
            <a:pPr>
              <a:buNone/>
            </a:pPr>
            <a:br>
              <a:rPr lang="en-GB" dirty="0"/>
            </a:br>
            <a:endParaRPr lang="en-GB" dirty="0">
              <a:highlight>
                <a:srgbClr val="FFFF00"/>
              </a:highlight>
            </a:endParaRPr>
          </a:p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In Progress (Currently Working)</a:t>
            </a:r>
          </a:p>
          <a:p>
            <a:pPr>
              <a:buNone/>
            </a:pPr>
            <a:r>
              <a:rPr lang="en-GB" dirty="0"/>
              <a:t>Tasks actively being developed.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Scraping tickets for teams (Manchester United, Liverpool, Arsenal)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Cleaning and formatting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Implementing filtering by team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Developing bidding feature</a:t>
            </a:r>
          </a:p>
        </p:txBody>
      </p:sp>
    </p:spTree>
    <p:extLst>
      <p:ext uri="{BB962C8B-B14F-4D97-AF65-F5344CB8AC3E}">
        <p14:creationId xmlns:p14="http://schemas.microsoft.com/office/powerpoint/2010/main" val="755662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9AA594-4FD1-70F3-3A6B-06E990668F6C}"/>
              </a:ext>
            </a:extLst>
          </p:cNvPr>
          <p:cNvSpPr txBox="1"/>
          <p:nvPr/>
        </p:nvSpPr>
        <p:spPr>
          <a:xfrm>
            <a:off x="642026" y="586185"/>
            <a:ext cx="77043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Testing (Quality Check)</a:t>
            </a:r>
          </a:p>
          <a:p>
            <a:pPr>
              <a:buNone/>
            </a:pPr>
            <a:r>
              <a:rPr lang="en-GB" dirty="0"/>
              <a:t>Tasks being tested and validated.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Check if scraping returns correct ticket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Test filtering (e.g., Chelsea tickets only)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Test bidding system functionality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Fix bugs and errors</a:t>
            </a:r>
          </a:p>
          <a:p>
            <a:pPr>
              <a:buNone/>
            </a:pPr>
            <a:br>
              <a:rPr lang="en-GB" dirty="0"/>
            </a:br>
            <a:endParaRPr lang="en-GB" dirty="0">
              <a:highlight>
                <a:srgbClr val="FFFF00"/>
              </a:highlight>
            </a:endParaRPr>
          </a:p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Done (Completed Tasks)</a:t>
            </a:r>
          </a:p>
          <a:p>
            <a:pPr>
              <a:buNone/>
            </a:pPr>
            <a:r>
              <a:rPr lang="en-GB" dirty="0"/>
              <a:t>Finished and approved tasks.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Scraper successfully collects ticket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Users can view tickets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Filtering by team works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Basic bidding system implemented</a:t>
            </a:r>
          </a:p>
        </p:txBody>
      </p:sp>
    </p:spTree>
    <p:extLst>
      <p:ext uri="{BB962C8B-B14F-4D97-AF65-F5344CB8AC3E}">
        <p14:creationId xmlns:p14="http://schemas.microsoft.com/office/powerpoint/2010/main" val="20260413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4D840F-EAC6-4077-A676-FC3E425BBF24}"/>
              </a:ext>
            </a:extLst>
          </p:cNvPr>
          <p:cNvSpPr txBox="1"/>
          <p:nvPr/>
        </p:nvSpPr>
        <p:spPr>
          <a:xfrm>
            <a:off x="486383" y="170687"/>
            <a:ext cx="78469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How This Fits Agile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Iterative</a:t>
            </a:r>
            <a:r>
              <a:rPr lang="en-GB" dirty="0"/>
              <a:t> → Tasks move across the board step-by-step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Adaptive</a:t>
            </a:r>
            <a:r>
              <a:rPr lang="en-GB" dirty="0"/>
              <a:t> → New tasks added based on feedback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Collaborative</a:t>
            </a:r>
            <a:r>
              <a:rPr lang="en-GB" dirty="0"/>
              <a:t> → Team updates tasks together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Value-driven</a:t>
            </a:r>
            <a:r>
              <a:rPr lang="en-GB" dirty="0"/>
              <a:t> → Important features completed first</a:t>
            </a:r>
          </a:p>
          <a:p>
            <a:pPr>
              <a:buNone/>
            </a:pPr>
            <a:br>
              <a:rPr lang="en-GB" dirty="0"/>
            </a:br>
            <a:endParaRPr lang="en-GB" dirty="0">
              <a:highlight>
                <a:srgbClr val="FFFF00"/>
              </a:highlight>
            </a:endParaRPr>
          </a:p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Simple Student Explanation</a:t>
            </a:r>
          </a:p>
          <a:p>
            <a:pPr>
              <a:buNone/>
            </a:pPr>
            <a:r>
              <a:rPr lang="en-GB" dirty="0"/>
              <a:t>A Kanban board helps teams: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See what work is </a:t>
            </a:r>
            <a:r>
              <a:rPr lang="en-GB" b="1" dirty="0"/>
              <a:t>pending, in progress, and completed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Manage tasks visually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Improve workflow efficiency</a:t>
            </a:r>
          </a:p>
        </p:txBody>
      </p:sp>
    </p:spTree>
    <p:extLst>
      <p:ext uri="{BB962C8B-B14F-4D97-AF65-F5344CB8AC3E}">
        <p14:creationId xmlns:p14="http://schemas.microsoft.com/office/powerpoint/2010/main" val="3395922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A9DDD3-FCD1-A320-1B3C-55F94EFBD3B6}"/>
              </a:ext>
            </a:extLst>
          </p:cNvPr>
          <p:cNvSpPr txBox="1"/>
          <p:nvPr/>
        </p:nvSpPr>
        <p:spPr>
          <a:xfrm>
            <a:off x="739301" y="1694180"/>
            <a:ext cx="79637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What is a Pipeline?</a:t>
            </a:r>
          </a:p>
          <a:p>
            <a:pPr>
              <a:buNone/>
            </a:pPr>
            <a:r>
              <a:rPr lang="en-GB" dirty="0"/>
              <a:t>A </a:t>
            </a:r>
            <a:r>
              <a:rPr lang="en-GB" b="1" dirty="0"/>
              <a:t>pipeline</a:t>
            </a:r>
            <a:r>
              <a:rPr lang="en-GB" dirty="0"/>
              <a:t> is a </a:t>
            </a:r>
            <a:r>
              <a:rPr lang="en-GB" b="1" dirty="0"/>
              <a:t>series of steps where data moves from one stage to another</a:t>
            </a:r>
            <a:r>
              <a:rPr lang="en-GB" dirty="0"/>
              <a:t>, just like water flowing through a pipe.</a:t>
            </a:r>
          </a:p>
          <a:p>
            <a:endParaRPr lang="en-GB" dirty="0"/>
          </a:p>
          <a:p>
            <a:r>
              <a:rPr lang="en-GB" dirty="0"/>
              <a:t>👉 Each step processes the data and passes it to the next step.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32976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2BDC85-89DB-39EE-6AE2-978CFA137989}"/>
              </a:ext>
            </a:extLst>
          </p:cNvPr>
          <p:cNvSpPr txBox="1"/>
          <p:nvPr/>
        </p:nvSpPr>
        <p:spPr>
          <a:xfrm>
            <a:off x="340468" y="60495"/>
            <a:ext cx="84630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Pipeline in Project (Simple Explanation)</a:t>
            </a:r>
          </a:p>
          <a:p>
            <a:r>
              <a:rPr lang="en-GB" dirty="0"/>
              <a:t>For your </a:t>
            </a:r>
            <a:r>
              <a:rPr lang="en-GB" b="1" dirty="0"/>
              <a:t>football ticket scraping system</a:t>
            </a:r>
            <a:r>
              <a:rPr lang="en-GB" dirty="0"/>
              <a:t>, the pipeline looks like this:</a:t>
            </a:r>
          </a:p>
          <a:p>
            <a:br>
              <a:rPr lang="en-GB" b="1" dirty="0"/>
            </a:br>
            <a:r>
              <a:rPr lang="en-GB" b="1" dirty="0"/>
              <a:t>Data Pipeline Steps</a:t>
            </a:r>
          </a:p>
          <a:p>
            <a:r>
              <a:rPr lang="en-GB" b="1" dirty="0"/>
              <a:t>Data Collection (Scraping)</a:t>
            </a:r>
            <a:endParaRPr lang="en-GB" dirty="0"/>
          </a:p>
          <a:p>
            <a:pPr lvl="1"/>
            <a:r>
              <a:rPr lang="en-GB" dirty="0"/>
              <a:t>Collect ticket data from eBay</a:t>
            </a:r>
          </a:p>
          <a:p>
            <a:pPr lvl="1"/>
            <a:r>
              <a:rPr lang="en-GB" dirty="0"/>
              <a:t>Example: Manchester United or Liverpool tickets</a:t>
            </a:r>
          </a:p>
          <a:p>
            <a:r>
              <a:rPr lang="en-GB" b="1" dirty="0"/>
              <a:t>Data Cleaning</a:t>
            </a:r>
            <a:endParaRPr lang="en-GB" dirty="0"/>
          </a:p>
          <a:p>
            <a:pPr lvl="1"/>
            <a:r>
              <a:rPr lang="en-GB" dirty="0"/>
              <a:t>Remove duplicates</a:t>
            </a:r>
          </a:p>
          <a:p>
            <a:pPr lvl="1"/>
            <a:r>
              <a:rPr lang="en-GB" dirty="0"/>
              <a:t>Fix missing or incorrect prices</a:t>
            </a:r>
          </a:p>
          <a:p>
            <a:r>
              <a:rPr lang="en-GB" b="1" dirty="0"/>
              <a:t>Data Storage</a:t>
            </a:r>
            <a:endParaRPr lang="en-GB" dirty="0"/>
          </a:p>
          <a:p>
            <a:pPr lvl="1"/>
            <a:r>
              <a:rPr lang="en-GB" dirty="0"/>
              <a:t>Save cleaned data into a database</a:t>
            </a:r>
          </a:p>
          <a:p>
            <a:r>
              <a:rPr lang="en-GB" b="1" dirty="0"/>
              <a:t>Data Processing</a:t>
            </a:r>
            <a:endParaRPr lang="en-GB" dirty="0"/>
          </a:p>
          <a:p>
            <a:pPr lvl="1"/>
            <a:r>
              <a:rPr lang="en-GB" dirty="0"/>
              <a:t>Filter by teams (Arsenal, Chelsea, etc.)</a:t>
            </a:r>
          </a:p>
          <a:p>
            <a:pPr lvl="1"/>
            <a:r>
              <a:rPr lang="en-GB" dirty="0"/>
              <a:t>Sort by price</a:t>
            </a:r>
          </a:p>
          <a:p>
            <a:r>
              <a:rPr lang="en-GB" b="1" dirty="0"/>
              <a:t>Data Output / Usage</a:t>
            </a:r>
            <a:endParaRPr lang="en-GB" dirty="0"/>
          </a:p>
          <a:p>
            <a:pPr lvl="1"/>
            <a:r>
              <a:rPr lang="en-GB" dirty="0"/>
              <a:t>Display tickets to users</a:t>
            </a:r>
          </a:p>
          <a:p>
            <a:pPr lvl="1"/>
            <a:r>
              <a:rPr lang="en-GB" dirty="0"/>
              <a:t>Allow bidding</a:t>
            </a:r>
          </a:p>
          <a:p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0943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A2A76D-F6AF-9586-A989-9AEC0EE8DE72}"/>
              </a:ext>
            </a:extLst>
          </p:cNvPr>
          <p:cNvSpPr txBox="1"/>
          <p:nvPr/>
        </p:nvSpPr>
        <p:spPr>
          <a:xfrm>
            <a:off x="732817" y="1278683"/>
            <a:ext cx="72308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 </a:t>
            </a:r>
            <a:r>
              <a:rPr lang="en-GB" b="1" dirty="0">
                <a:highlight>
                  <a:srgbClr val="FFFF00"/>
                </a:highlight>
              </a:rPr>
              <a:t>How Pipeline Links to Kanban Board</a:t>
            </a:r>
          </a:p>
          <a:p>
            <a:r>
              <a:rPr lang="en-GB" dirty="0"/>
              <a:t>Each stage of the pipeline becomes </a:t>
            </a:r>
            <a:r>
              <a:rPr lang="en-GB" b="1" dirty="0"/>
              <a:t>tasks on the Kanban board</a:t>
            </a:r>
            <a:r>
              <a:rPr lang="en-GB" dirty="0"/>
              <a:t>:</a:t>
            </a:r>
          </a:p>
          <a:p>
            <a:r>
              <a:rPr lang="en-GB" dirty="0"/>
              <a:t>Scraping → To Do / In Progress</a:t>
            </a:r>
          </a:p>
          <a:p>
            <a:r>
              <a:rPr lang="en-GB" dirty="0"/>
              <a:t>Cleaning → In Progress</a:t>
            </a:r>
          </a:p>
          <a:p>
            <a:r>
              <a:rPr lang="en-GB" dirty="0"/>
              <a:t>Storage → Testing</a:t>
            </a:r>
          </a:p>
          <a:p>
            <a:r>
              <a:rPr lang="en-GB" dirty="0"/>
              <a:t>Display → Done</a:t>
            </a:r>
          </a:p>
          <a:p>
            <a:r>
              <a:rPr lang="en-GB" dirty="0"/>
              <a:t>👉 So, the </a:t>
            </a:r>
            <a:r>
              <a:rPr lang="en-GB" b="1" dirty="0"/>
              <a:t>pipeline = flow of data</a:t>
            </a:r>
            <a:br>
              <a:rPr lang="en-GB" dirty="0"/>
            </a:br>
            <a:r>
              <a:rPr lang="en-GB" dirty="0"/>
              <a:t>👉 Kanban board = </a:t>
            </a:r>
            <a:r>
              <a:rPr lang="en-GB" b="1" dirty="0"/>
              <a:t>tracking the work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5509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318EBD-FB43-1DE2-4E9A-5F204BF3A99E}"/>
              </a:ext>
            </a:extLst>
          </p:cNvPr>
          <p:cNvSpPr txBox="1"/>
          <p:nvPr/>
        </p:nvSpPr>
        <p:spPr>
          <a:xfrm>
            <a:off x="434502" y="32188"/>
            <a:ext cx="642349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dirty="0"/>
            </a:br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Simple Student Definition</a:t>
            </a:r>
          </a:p>
          <a:p>
            <a:r>
              <a:rPr lang="en-GB" dirty="0"/>
              <a:t> </a:t>
            </a:r>
            <a:r>
              <a:rPr lang="en-GB" b="1" dirty="0"/>
              <a:t>Pipeline = Step-by-step flow of data through a system</a:t>
            </a:r>
            <a:endParaRPr lang="en-GB" dirty="0"/>
          </a:p>
          <a:p>
            <a:br>
              <a:rPr lang="en-GB" dirty="0"/>
            </a:br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Easy Analogy</a:t>
            </a:r>
          </a:p>
          <a:p>
            <a:r>
              <a:rPr lang="en-GB" dirty="0"/>
              <a:t>Think of it like a </a:t>
            </a:r>
            <a:r>
              <a:rPr lang="en-GB" b="1" dirty="0"/>
              <a:t>car wash</a:t>
            </a:r>
            <a:r>
              <a:rPr lang="en-GB" dirty="0"/>
              <a:t> :</a:t>
            </a:r>
          </a:p>
          <a:p>
            <a:r>
              <a:rPr lang="en-GB" dirty="0"/>
              <a:t>Step 1: Wash</a:t>
            </a:r>
          </a:p>
          <a:p>
            <a:r>
              <a:rPr lang="en-GB" dirty="0"/>
              <a:t>Step 2: Soap</a:t>
            </a:r>
          </a:p>
          <a:p>
            <a:r>
              <a:rPr lang="en-GB" dirty="0"/>
              <a:t>Step 3: Rinse</a:t>
            </a:r>
          </a:p>
          <a:p>
            <a:r>
              <a:rPr lang="en-GB" dirty="0"/>
              <a:t>Step 4: Dry</a:t>
            </a:r>
          </a:p>
          <a:p>
            <a:endParaRPr lang="en-GB" dirty="0"/>
          </a:p>
          <a:p>
            <a:r>
              <a:rPr lang="en-GB" dirty="0"/>
              <a:t>Data goes through steps just like a car!</a:t>
            </a:r>
          </a:p>
          <a:p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5155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Key Concept: WIP Limits in Data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Kanban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(Work-In-Progress) Limits prevent your data team from becoming a bottleneck.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1480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WIP Limits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engineers start 5 different pipelines simultaneously. Each hits dependency issues. Nothing ships for 3 weeks. Stakeholders are frustrated.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114800" cy="3657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66344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WIP Limits (max 3)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limits 'In Progress' to 3 items. One pipeline ships, then a new one starts. Weekly delivery rhythm established. Blockers visible immediately.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703320"/>
            <a:ext cx="859536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5760" y="3703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Best Practice: Set WIP limit = team_size × 0.75. For a 4-person DE team: max 3 items in progress at once.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DE in Practice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examples, hands-on exercises &amp; case studies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D92362-6253-345F-CAFA-971B24CC85CD}"/>
              </a:ext>
            </a:extLst>
          </p:cNvPr>
          <p:cNvSpPr txBox="1"/>
          <p:nvPr/>
        </p:nvSpPr>
        <p:spPr>
          <a:xfrm>
            <a:off x="525295" y="622570"/>
            <a:ext cx="819068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Agile DE in Practice (Step-by-Step)</a:t>
            </a:r>
          </a:p>
          <a:p>
            <a:pPr>
              <a:buNone/>
            </a:pPr>
            <a:br>
              <a:rPr lang="en-GB" b="1" dirty="0"/>
            </a:br>
            <a:r>
              <a:rPr lang="en-GB" b="1" dirty="0">
                <a:highlight>
                  <a:srgbClr val="FFFF00"/>
                </a:highlight>
              </a:rPr>
              <a:t>Sprint 1 – Build Basic Data Pipeline</a:t>
            </a:r>
          </a:p>
          <a:p>
            <a:pPr>
              <a:buNone/>
            </a:pPr>
            <a:r>
              <a:rPr lang="en-GB" b="1" dirty="0"/>
              <a:t>Goal:</a:t>
            </a:r>
            <a:r>
              <a:rPr lang="en-GB" dirty="0"/>
              <a:t> Get raw data working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Scrape ticket data from eBay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Store raw data in database</a:t>
            </a:r>
          </a:p>
          <a:p>
            <a:pPr>
              <a:buNone/>
            </a:pPr>
            <a:br>
              <a:rPr lang="en-GB" dirty="0"/>
            </a:br>
            <a:r>
              <a:rPr lang="en-GB" dirty="0"/>
              <a:t>Output: Users can see basic ticket listings</a:t>
            </a:r>
          </a:p>
          <a:p>
            <a:pPr>
              <a:buNone/>
            </a:pPr>
            <a:r>
              <a:rPr lang="en-GB" i="1" dirty="0"/>
              <a:t>Focus: Deliver working data quickly</a:t>
            </a:r>
            <a:br>
              <a:rPr lang="en-GB" i="1" dirty="0"/>
            </a:br>
            <a:br>
              <a:rPr lang="en-GB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98263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170C95-177A-FED7-5F88-DAE26D021D2A}"/>
              </a:ext>
            </a:extLst>
          </p:cNvPr>
          <p:cNvSpPr txBox="1"/>
          <p:nvPr/>
        </p:nvSpPr>
        <p:spPr>
          <a:xfrm>
            <a:off x="311285" y="586591"/>
            <a:ext cx="661805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Sprint 2 – Improve Data Quality</a:t>
            </a:r>
          </a:p>
          <a:p>
            <a:pPr>
              <a:buNone/>
            </a:pPr>
            <a:r>
              <a:rPr lang="en-GB" b="1" dirty="0"/>
              <a:t>Goal:</a:t>
            </a:r>
            <a:r>
              <a:rPr lang="en-GB" dirty="0"/>
              <a:t> Make data useful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Clean data (remove duplicates, fix prices)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team filtering (e.g., Arsenal tickets only)</a:t>
            </a:r>
          </a:p>
          <a:p>
            <a:pPr>
              <a:buNone/>
            </a:pPr>
            <a:br>
              <a:rPr lang="en-GB" dirty="0"/>
            </a:br>
            <a:r>
              <a:rPr lang="en-GB" dirty="0"/>
              <a:t>Output: Users can search tickets by team</a:t>
            </a:r>
            <a:br>
              <a:rPr lang="en-GB" dirty="0"/>
            </a:br>
            <a:r>
              <a:rPr lang="en-GB" i="1" dirty="0"/>
              <a:t>Focus: Better data quality</a:t>
            </a:r>
            <a:br>
              <a:rPr lang="en-GB" i="1" dirty="0"/>
            </a:br>
            <a:br>
              <a:rPr lang="en-GB" i="1" dirty="0"/>
            </a:br>
            <a:r>
              <a:rPr lang="en-GB" b="1" dirty="0">
                <a:highlight>
                  <a:srgbClr val="FFFF00"/>
                </a:highlight>
              </a:rPr>
              <a:t>Sprint 3 – Add Features</a:t>
            </a:r>
          </a:p>
          <a:p>
            <a:r>
              <a:rPr lang="en-GB" b="1" dirty="0"/>
              <a:t>Goal:</a:t>
            </a:r>
            <a:r>
              <a:rPr lang="en-GB" dirty="0"/>
              <a:t> Add value for users</a:t>
            </a:r>
          </a:p>
          <a:p>
            <a:r>
              <a:rPr lang="en-GB" dirty="0"/>
              <a:t>Add bidding system</a:t>
            </a:r>
          </a:p>
          <a:p>
            <a:r>
              <a:rPr lang="en-GB" dirty="0"/>
              <a:t>Show cheapest tickets first</a:t>
            </a:r>
          </a:p>
          <a:p>
            <a:br>
              <a:rPr lang="en-GB" dirty="0"/>
            </a:br>
            <a:r>
              <a:rPr lang="en-GB" dirty="0"/>
              <a:t>Output: Users can place bids on tickets</a:t>
            </a:r>
            <a:br>
              <a:rPr lang="en-GB" dirty="0"/>
            </a:br>
            <a:r>
              <a:rPr lang="en-GB" i="1" dirty="0"/>
              <a:t>Focus: User value</a:t>
            </a:r>
            <a:endParaRPr lang="en-GB" dirty="0"/>
          </a:p>
          <a:p>
            <a:pPr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3559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4C2F33-FF27-A217-14E7-FC5A86A8C7C8}"/>
              </a:ext>
            </a:extLst>
          </p:cNvPr>
          <p:cNvSpPr txBox="1"/>
          <p:nvPr/>
        </p:nvSpPr>
        <p:spPr>
          <a:xfrm>
            <a:off x="304800" y="236893"/>
            <a:ext cx="822311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Sprint 4 – Real-Time &amp; Alerts</a:t>
            </a:r>
          </a:p>
          <a:p>
            <a:pPr>
              <a:buNone/>
            </a:pPr>
            <a:r>
              <a:rPr lang="en-GB" b="1" dirty="0"/>
              <a:t>Goal:</a:t>
            </a:r>
            <a:r>
              <a:rPr lang="en-GB" dirty="0"/>
              <a:t> Make system smarter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notifications (e.g., cheap Manchester United tickets)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 data regularly (real-time pipeline)</a:t>
            </a:r>
          </a:p>
          <a:p>
            <a:pPr>
              <a:buNone/>
            </a:pPr>
            <a:br>
              <a:rPr lang="en-GB" dirty="0"/>
            </a:br>
            <a:r>
              <a:rPr lang="en-GB" dirty="0"/>
              <a:t>Output: Users get alerts and updated data</a:t>
            </a:r>
          </a:p>
          <a:p>
            <a:r>
              <a:rPr lang="en-GB" i="1" dirty="0"/>
              <a:t>Focus: Real-time data</a:t>
            </a:r>
            <a:br>
              <a:rPr lang="en-GB" i="1" dirty="0"/>
            </a:br>
            <a:br>
              <a:rPr lang="en-GB" i="1" dirty="0"/>
            </a:br>
            <a:r>
              <a:rPr lang="en-GB" b="1" dirty="0"/>
              <a:t>Key Agile DE Principles in This Project</a:t>
            </a:r>
          </a:p>
          <a:p>
            <a:r>
              <a:rPr lang="en-GB" b="1" dirty="0"/>
              <a:t> Iterative (Build in Steps)</a:t>
            </a:r>
          </a:p>
          <a:p>
            <a:r>
              <a:rPr lang="en-GB" dirty="0"/>
              <a:t>Pipeline is built gradually (scraping → cleaning → filtering → bidding)</a:t>
            </a:r>
          </a:p>
          <a:p>
            <a:pPr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95594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922974-18E8-92C5-F92C-0EBF17A47283}"/>
              </a:ext>
            </a:extLst>
          </p:cNvPr>
          <p:cNvSpPr txBox="1"/>
          <p:nvPr/>
        </p:nvSpPr>
        <p:spPr>
          <a:xfrm>
            <a:off x="791184" y="171093"/>
            <a:ext cx="621597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Adaptive (Respond to Change)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Users request alerts → added in next sprint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eBay structure changes → scraper updated</a:t>
            </a:r>
          </a:p>
          <a:p>
            <a:pPr>
              <a:buNone/>
            </a:pP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b="1" dirty="0">
                <a:highlight>
                  <a:srgbClr val="FFFF00"/>
                </a:highlight>
              </a:rPr>
              <a:t>Collaborative (Teamwork)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Data Engineers → Build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Developers → Build UI &amp; bidding</a:t>
            </a:r>
          </a:p>
          <a:p>
            <a:r>
              <a:rPr lang="en-GB" dirty="0"/>
              <a:t>Testers → Validate data accuracy</a:t>
            </a:r>
            <a:br>
              <a:rPr lang="en-GB" dirty="0"/>
            </a:br>
            <a:br>
              <a:rPr lang="en-GB" dirty="0"/>
            </a:br>
            <a:r>
              <a:rPr lang="en-GB" b="1" dirty="0">
                <a:highlight>
                  <a:srgbClr val="FFFF00"/>
                </a:highlight>
              </a:rPr>
              <a:t>Value-Driven (Focus on Important Features)</a:t>
            </a:r>
          </a:p>
          <a:p>
            <a:r>
              <a:rPr lang="en-GB" dirty="0"/>
              <a:t>First: Get ticket data</a:t>
            </a:r>
          </a:p>
          <a:p>
            <a:r>
              <a:rPr lang="en-GB" dirty="0"/>
              <a:t>Then: Make it searchable</a:t>
            </a:r>
          </a:p>
          <a:p>
            <a:r>
              <a:rPr lang="en-GB" dirty="0"/>
              <a:t>Then: Add bidding</a:t>
            </a:r>
          </a:p>
          <a:p>
            <a:br>
              <a:rPr lang="en-GB" dirty="0"/>
            </a:br>
            <a:r>
              <a:rPr lang="en-GB" dirty="0"/>
              <a:t>Always deliver </a:t>
            </a:r>
            <a:r>
              <a:rPr lang="en-GB" b="1" dirty="0"/>
              <a:t>useful features first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50012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Agile Data Engineering at 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Real World Examples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09728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08760" y="100584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508760" y="1005840"/>
            <a:ext cx="2377440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50876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1344168"/>
            <a:ext cx="2194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deliver personalised playlist recommendations data to analysts weekly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69080" y="100584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069080" y="1005840"/>
            <a:ext cx="2377440" cy="29260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06908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SOLUTION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60520" y="1344168"/>
            <a:ext cx="2194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sprints: ingestion → transformation → feature engineering → model validation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1005840"/>
            <a:ext cx="2240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629400" y="1005840"/>
            <a:ext cx="2240280" cy="2926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629400" y="1005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1344168"/>
            <a:ext cx="2057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time-to-insight from 3 months → 2 weeks. 30% increase in analyst self-service.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109728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74320" y="3566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08760" y="292608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508760" y="2926080"/>
            <a:ext cx="2377440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50876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00200" y="3264408"/>
            <a:ext cx="2194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 was bottleneck; analytics engineers waited weeks for pipeline changes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69080" y="2926080"/>
            <a:ext cx="2377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069080" y="2926080"/>
            <a:ext cx="2377440" cy="29260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06908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SOLUTION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60520" y="3264408"/>
            <a:ext cx="2194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board, WIP limits, dbt for self-serve analytics, shared backlog with analysts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2926080"/>
            <a:ext cx="2240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629400" y="2926080"/>
            <a:ext cx="2240280" cy="2926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629400" y="29260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20840" y="3264408"/>
            <a:ext cx="2057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ticket resolution time dropped 60%. Analytics engineers became Agile practitioners.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Exercise: Run a Mini Sprint (25 minutes)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Real World Examples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Your e-commerce startup needs a pipeline to track 'Add to Cart → Purchase' conversion rate by region in real-time.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777240" cy="6858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74320" y="150876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1508760"/>
            <a:ext cx="7818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051560" y="1508760"/>
            <a:ext cx="54864" cy="6858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170432" y="15087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Write User Stories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70432" y="18013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task: Write 3 user stories for this pipeline. Assign story points. Who is the Product Owner? What goes in Sprint 1 vs Sprint 2?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04288"/>
            <a:ext cx="77724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74320" y="2304288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1560" y="2304288"/>
            <a:ext cx="7818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051560" y="2304288"/>
            <a:ext cx="54864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170432" y="230428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Design the Pipeline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70432" y="259689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Sketch: Source (Kafka/events) → Ingestion (S3) → Transform (dbt/Spark) → Serve (Snowflake/BigQuery) → Visualise (Looker/Tableau). What are the dbt models needed?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099816"/>
            <a:ext cx="777240" cy="6858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74320" y="3099816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51560" y="3099816"/>
            <a:ext cx="7818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051560" y="3099816"/>
            <a:ext cx="54864" cy="6858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170432" y="309981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Build the Kanban Board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70432" y="339242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columns: Backlog | In Progress (WIP=2) | Review | Done. Place your tasks. What are the acceptance criteria for 'Done'?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895344"/>
            <a:ext cx="7772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74320" y="3895344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51560" y="3895344"/>
            <a:ext cx="7818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1051560" y="3895344"/>
            <a:ext cx="54864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170432" y="389534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Present &amp; Discuss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70432" y="418795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presents their Sprint 1 plan. Instructor facilitates: What blockers did you identify? What would you demo at Sprint Review?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 — A Data Engineering Simulation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Real World Examples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 = 15 minutes max | 3 questions | Stand up (or Zoom camera on!)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37744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417320"/>
            <a:ext cx="2011680" cy="32918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651760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I...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417320"/>
            <a:ext cx="201168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800600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 will...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1417320"/>
            <a:ext cx="2011680" cy="32918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949440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blocker is...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746504"/>
            <a:ext cx="2377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5760" y="174650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 (Senior DE)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51760" y="1746504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743200" y="17465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Airflow DAG for customer ingestion — tests passing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746504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892040" y="17465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dbt transformation for orders_clean model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49440" y="1746504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040880" y="17465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DBT docs access from DevOps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606040"/>
            <a:ext cx="2377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65760" y="26060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(Data Analyst)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51760" y="2606040"/>
            <a:ext cx="2011680" cy="749808"/>
          </a:xfrm>
          <a:prstGeom prst="rect">
            <a:avLst/>
          </a:prstGeom>
          <a:solidFill>
            <a:srgbClr val="F5F9FC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743200" y="26060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pipeline schema with Aisha, approved field mappings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2606040"/>
            <a:ext cx="2011680" cy="749808"/>
          </a:xfrm>
          <a:prstGeom prst="rect">
            <a:avLst/>
          </a:prstGeom>
          <a:solidFill>
            <a:srgbClr val="F5F9FC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92040" y="26060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acceptance tests for revenue reconciliation story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49440" y="2606040"/>
            <a:ext cx="2011680" cy="749808"/>
          </a:xfrm>
          <a:prstGeom prst="rect">
            <a:avLst/>
          </a:prstGeom>
          <a:solidFill>
            <a:srgbClr val="F5F9FC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040880" y="260604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today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465576"/>
            <a:ext cx="23774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65760" y="346557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Carla (Junior DE)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651760" y="3465576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2743200" y="346557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null handling bug in churn model pipeline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465576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892040" y="346557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updated model to staging environment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49440" y="3465576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7040880" y="346557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Snowflake warehouse is slow — Scrum Master to check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Tools for DE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Confluence, dbt, Airflow — your Agile stack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Tooling Stack for Data Engineers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Tools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54864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14630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0789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Management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" y="1417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stories, track sprint tasks, manage backlog, burndown charts for your data pipeline work.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54864" cy="10972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73168" y="1078992"/>
            <a:ext cx="146304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73168" y="1078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7648" y="10789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8032" y="1417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data contracts, pipeline specs, runbooks, sprint notes, and architecture decision records (ADRs).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2402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56032" y="2240280"/>
            <a:ext cx="54864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65760" y="2313432"/>
            <a:ext cx="146304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5760" y="2313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23134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Layer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" y="2651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SQL models = Agile-friendly. Each PR = a deliverable. Tests in every model. Documentation auto-generated.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2402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663440" y="2240280"/>
            <a:ext cx="54864" cy="10972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773168" y="2313432"/>
            <a:ext cx="1463040" cy="2743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773168" y="2313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27648" y="23134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2651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 map to sprint deliverables. Each task = a story. Retry logic = resilience. Observable = transparent.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34747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56032" y="3474720"/>
            <a:ext cx="54864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65760" y="3547872"/>
            <a:ext cx="14630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65760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GitHub/GitLab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20240" y="3547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+ CI/CD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" y="3886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per story, PR per sprint task. CI runs data quality tests. CD deploys to staging/prod automatically.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4747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663440" y="3474720"/>
            <a:ext cx="54864" cy="10972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773168" y="3547872"/>
            <a:ext cx="146304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773168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27648" y="3547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28032" y="3886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'acceptance criteria' as data expectations. Run in CI pipeline. Fails = don't merge. Agile data contracts.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&amp; Best Practices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 teams get wrong — and how to fix it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Agile Pitfalls in Data Engineering Teams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Pitfalls &amp; Best Practices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977640" cy="640080"/>
          </a:xfrm>
          <a:prstGeom prst="rect">
            <a:avLst/>
          </a:prstGeom>
          <a:solidFill>
            <a:srgbClr val="FFF5F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4864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Over-engineering the backlog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216152"/>
            <a:ext cx="365760" cy="21945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434840" y="12161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1005840"/>
            <a:ext cx="3977640" cy="640080"/>
          </a:xfrm>
          <a:prstGeom prst="rect">
            <a:avLst/>
          </a:prstGeom>
          <a:solidFill>
            <a:srgbClr val="F0FF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892040" y="1005840"/>
            <a:ext cx="54864" cy="6400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0" y="1005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Start with 1 sprint worth of stories. Refine as you learn. Don't plan 6 months of data work upfront.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764792"/>
            <a:ext cx="3977640" cy="640080"/>
          </a:xfrm>
          <a:prstGeom prst="rect">
            <a:avLst/>
          </a:prstGeom>
          <a:solidFill>
            <a:srgbClr val="FFF5F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1764792"/>
            <a:ext cx="54864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11480" y="17647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Sprint = only for Software Devs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34840" y="1975104"/>
            <a:ext cx="365760" cy="21945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434840" y="19751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1764792"/>
            <a:ext cx="3977640" cy="640080"/>
          </a:xfrm>
          <a:prstGeom prst="rect">
            <a:avLst/>
          </a:prstGeom>
          <a:solidFill>
            <a:srgbClr val="F0FF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92040" y="1764792"/>
            <a:ext cx="54864" cy="6400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029200" y="17647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pipelines, dbt models, schema migrations, documentation — all are sprint-able. Treat data work like product work.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523744"/>
            <a:ext cx="3977640" cy="640080"/>
          </a:xfrm>
          <a:prstGeom prst="rect">
            <a:avLst/>
          </a:prstGeom>
          <a:solidFill>
            <a:srgbClr val="FFF5F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2523744"/>
            <a:ext cx="54864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11480" y="252374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Standups become status reports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34840" y="2734056"/>
            <a:ext cx="365760" cy="21945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434840" y="27340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2523744"/>
            <a:ext cx="3977640" cy="640080"/>
          </a:xfrm>
          <a:prstGeom prst="rect">
            <a:avLst/>
          </a:prstGeom>
          <a:solidFill>
            <a:srgbClr val="F0FF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892040" y="2523744"/>
            <a:ext cx="54864" cy="6400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029200" y="252374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Standup is for BLOCKERS, not updates. If no blocker: 'All good, see Jira.' Keep it under 15 min.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282696"/>
            <a:ext cx="3977640" cy="640080"/>
          </a:xfrm>
          <a:prstGeom prst="rect">
            <a:avLst/>
          </a:prstGeom>
          <a:solidFill>
            <a:srgbClr val="FFF5F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74320" y="3282696"/>
            <a:ext cx="54864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11480" y="328269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Definition of Done for data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34840" y="3493008"/>
            <a:ext cx="365760" cy="21945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434840" y="34930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92040" y="3282696"/>
            <a:ext cx="3977640" cy="640080"/>
          </a:xfrm>
          <a:prstGeom prst="rect">
            <a:avLst/>
          </a:prstGeom>
          <a:solidFill>
            <a:srgbClr val="F0FF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4892040" y="3282696"/>
            <a:ext cx="54864" cy="6400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029200" y="328269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 a team agreement: tests pass + peer review + docs updated + runs in production = DONE.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041648"/>
            <a:ext cx="3977640" cy="640080"/>
          </a:xfrm>
          <a:prstGeom prst="rect">
            <a:avLst/>
          </a:prstGeom>
          <a:solidFill>
            <a:srgbClr val="FFF5F0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274320" y="4041648"/>
            <a:ext cx="54864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11480" y="40416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Technical debt ignored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34840" y="4251960"/>
            <a:ext cx="365760" cy="21945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434840" y="42519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92040" y="4041648"/>
            <a:ext cx="3977640" cy="640080"/>
          </a:xfrm>
          <a:prstGeom prst="rect">
            <a:avLst/>
          </a:prstGeom>
          <a:solidFill>
            <a:srgbClr val="F0FF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4892040" y="4041648"/>
            <a:ext cx="54864" cy="6400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5029200" y="40416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Allocate 20% of each sprint to tech debt: refactor old pipelines, fix data quality issues, update schemas.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Best Practices — Data Engineering Edition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Pitfalls &amp; Best Practices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697480" cy="32918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Sprints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44168"/>
            <a:ext cx="2514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sprints for data work. Long enough to deliver; short enough to pivot.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69748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46120" y="96012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 First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344168"/>
            <a:ext cx="2514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 pipeline, agree on schema, SLAs, and quality rules with stakeholders.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697480" cy="32918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217920" y="96012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Testing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344168"/>
            <a:ext cx="2514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dbt model needs tests. Every DAG needs sensors. Quality gates in CI/CD.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7889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269748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74320" y="278892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as You Go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172968"/>
            <a:ext cx="2514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page per epic. dbt docs auto-generated. No more tribal knowledge.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27889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246120" y="2788920"/>
            <a:ext cx="2697480" cy="32918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246120" y="278892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Stakeholders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3172968"/>
            <a:ext cx="2514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in sprint review. Data team in product planning. No more waterfall handoffs.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27889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217920" y="2788920"/>
            <a:ext cx="269748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217920" y="278892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Metrics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172968"/>
            <a:ext cx="2514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Velocity, cycle time, data freshness SLA, pipeline uptime — measure your Agile health.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Time!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— Test your Agile &amp; Data Engineering knowledge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Questions 1 &amp;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15-Minute Quiz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Which Agile principle states: 'Welcome changing requirements, even late in development'?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435608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84048" y="143560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Principle 3 — Frequent Delivery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19656"/>
            <a:ext cx="4206240" cy="338328"/>
          </a:xfrm>
          <a:prstGeom prst="rect">
            <a:avLst/>
          </a:prstGeom>
          <a:solidFill>
            <a:srgbClr val="E8F8F0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84048" y="181965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Principle 2 — Welcome Change 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35608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73168" y="143560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Principle 7 — Working Software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81965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73168" y="181965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Principle 12 — Reflect &amp; Adjust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58568"/>
            <a:ext cx="859536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65760" y="22585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Principle 2 is key for DE teams — data sources change, business logic shifts, and Agile embraces this rather than freezing requirements.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29260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In Scrum, who is responsible for prioritising the data pipeline backlog?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401568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84048" y="340156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Scrum Master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78561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84048" y="378561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Data Engineer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401568"/>
            <a:ext cx="4206240" cy="338328"/>
          </a:xfrm>
          <a:prstGeom prst="rect">
            <a:avLst/>
          </a:prstGeom>
          <a:solidFill>
            <a:srgbClr val="E8F8F0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773168" y="340156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Product Owner 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78561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773168" y="378561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Stakeholder committee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224528"/>
            <a:ext cx="859536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65760" y="42245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The Product Owner owns the backlog and ensures items are ordered by business value. In a DE team, this might be a Data Product Manager.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Questions 3 &amp;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15-Minute Quiz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What does 'WIP Limit' mean in Kanban, and why is it important for data teams?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435608"/>
            <a:ext cx="4206240" cy="338328"/>
          </a:xfrm>
          <a:prstGeom prst="rect">
            <a:avLst/>
          </a:prstGeom>
          <a:solidFill>
            <a:srgbClr val="E8F8F0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84048" y="143560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Work In Progress limit — prevents overload &amp; bottlenecks 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1965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84048" y="181965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Weekly Integration Point — for sprint reviews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35608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73168" y="143560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Work Improvement Process — for retrospectives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81965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73168" y="181965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Workflow Iteration Protocol — for deployments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58568"/>
            <a:ext cx="859536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65760" y="22585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WIP limits stop data engineers from context-switching. A DE team with WIP=3 ships tasks faster than one with 8 tasks all 'in progress'.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29260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In an Agile data team, what is the correct 'Definition of Done' for a dbt model?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401568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84048" y="340156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The SQL is written and runs without errors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78561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84048" y="378561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model is merged to main branch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401568"/>
            <a:ext cx="4206240" cy="338328"/>
          </a:xfrm>
          <a:prstGeom prst="rect">
            <a:avLst/>
          </a:prstGeom>
          <a:solidFill>
            <a:srgbClr val="E8F8F0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773168" y="340156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Tests pass + docs updated + deployed to prod + peer reviewed 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78561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773168" y="378561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Stakeholder has approved the business logic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224528"/>
            <a:ext cx="859536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65760" y="42245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A proper DoD covers all quality gates. Just running without errors is not enough — tests, docs, review, and deployment are all required.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Questions 5 &amp; 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15-Minute Quiz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Your team needs to build a data warehouse from scratch. Which Agile approach is BEST?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435608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84048" y="143560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Plan all 6 months upfront, then build (Waterfall)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19656"/>
            <a:ext cx="4206240" cy="338328"/>
          </a:xfrm>
          <a:prstGeom prst="rect">
            <a:avLst/>
          </a:prstGeom>
          <a:solidFill>
            <a:srgbClr val="E8F8F0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84048" y="181965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Break into 2-week sprints, deliver incremental value 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35608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73168" y="143560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Build everything in one sprint to ship faster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81965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73168" y="181965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Skip planning and start coding immediately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58568"/>
            <a:ext cx="859536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65760" y="22585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Agile breaks large data projects into sprints. Sprint 1 might just deliver raw ingestion; Sprint 3 delivers the first dashboard. Stakeholders see value early.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29260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What is a 'Sprint Retrospective' focused on?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401568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84048" y="340156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Demoing the working pipeline to stakeholders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78561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84048" y="378561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Planning tasks for the next sprint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401568"/>
            <a:ext cx="4206240" cy="338328"/>
          </a:xfrm>
          <a:prstGeom prst="rect">
            <a:avLst/>
          </a:prstGeom>
          <a:solidFill>
            <a:srgbClr val="E8F8F0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773168" y="340156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Reviewing what went well, what didn't, and how to improve 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78561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773168" y="378561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Estimating story points for new user stories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224528"/>
            <a:ext cx="859536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65760" y="42245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The retrospective is inward-facing — the team reflects on their process, not the product. It's the engine of continuous improvement.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Questions 7 &amp; 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15-Minute Quiz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Which tool BEST aligns with 'Definition of Done' for data quality in Agile DE?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435608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84048" y="143560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Tableau — for visualising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1965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84048" y="181965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Airflow — for orchestrating pipelines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35608"/>
            <a:ext cx="4206240" cy="338328"/>
          </a:xfrm>
          <a:prstGeom prst="rect">
            <a:avLst/>
          </a:prstGeom>
          <a:solidFill>
            <a:srgbClr val="E8F8F0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73168" y="143560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Great Expectations / dbt tests — automated data quality checks 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81965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73168" y="181965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Confluence — for writing documentation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58568"/>
            <a:ext cx="859536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65760" y="22585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Automated data quality checks (Great Expectations, dbt tests) enforce acceptance criteria programmatically — the true Agile definition of 'done' for data.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29260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How long should a daily standup be for a data engineering team?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401568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84048" y="340156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1 hour — to cover all pipeline status updates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78561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84048" y="378561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30 minutes — with deep technical discussion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401568"/>
            <a:ext cx="4206240" cy="338328"/>
          </a:xfrm>
          <a:prstGeom prst="rect">
            <a:avLst/>
          </a:prstGeom>
          <a:solidFill>
            <a:srgbClr val="E8F8F0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773168" y="3401568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15 minutes maximum — blockers only 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785616"/>
            <a:ext cx="4206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773168" y="378561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45 minutes — including backlog refinement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224528"/>
            <a:ext cx="8595360" cy="384048"/>
          </a:xfrm>
          <a:prstGeom prst="rect">
            <a:avLst/>
          </a:prstGeom>
          <a:solidFill>
            <a:srgbClr val="E8F4F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65760" y="42245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Standups are for synchronisation and blockers ONLY. Detailed discussion happens offline. A 15-minute limit forces focus and respects everyone's time.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Summary — 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Wrap-Up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= Iterative Delivery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1408176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data projects into 2-week sprints. Ship something usable every sprint.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Principles Apply to 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welcome change to reflect &amp; adjust — every principle maps to your pipeline work.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4114800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7432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is Your Framework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048" y="2642616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Standups, sprint planning, reviews, and retros keep data teams aligned and shipping.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2402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63440" y="2240280"/>
            <a:ext cx="41148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6344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Visualises Flow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73168" y="2642616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Kanban board makes pipeline work visible, surfaces blockers, and limits WIP.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F7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4114800" cy="3474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3474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Amplify Agile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4048" y="3877056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dbt + Airflow + Great Expectations = a fully Agile data engineering stack.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4747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63440" y="3474720"/>
            <a:ext cx="41148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63440" y="3474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73168" y="3877056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retrospective makes your team faster, better, and more reliable.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for Data Engineers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01168" y="3200400"/>
            <a:ext cx="8942832" cy="19431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01168" y="3200400"/>
            <a:ext cx="894283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7C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GeeksforGeeks — Agile Methodology | Agile Software Development Models | Agile Manifesto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architectures, requirements, and designs emerge from self-organising teams." — Agile Manifesto, Principle 11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315200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</TotalTime>
  <Words>4610</Words>
  <Application>Microsoft Office PowerPoint</Application>
  <PresentationFormat>On-screen Show (16:9)</PresentationFormat>
  <Paragraphs>712</Paragraphs>
  <Slides>52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Methodology for Data Engineers</dc:title>
  <dc:subject>PptxGenJS Presentation</dc:subject>
  <dc:creator>PptxGenJS</dc:creator>
  <cp:lastModifiedBy>Savithiri Praveenkumar</cp:lastModifiedBy>
  <cp:revision>20</cp:revision>
  <dcterms:created xsi:type="dcterms:W3CDTF">2026-03-17T19:53:16Z</dcterms:created>
  <dcterms:modified xsi:type="dcterms:W3CDTF">2026-03-18T11:19:30Z</dcterms:modified>
</cp:coreProperties>
</file>