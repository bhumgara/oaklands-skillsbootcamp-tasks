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B0912-60FF-4129-81AD-91DC3C4B3300}" v="3" dt="2026-02-18T13:47:41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682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2040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132320" y="457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>
                <a:solidFill>
                  <a:srgbClr val="000000"/>
                </a:solidFill>
              </a:rPr>
              <a:t>🐍</a:t>
            </a:r>
            <a:endParaRPr lang="en-US" sz="600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Grammar</a:t>
            </a:r>
            <a:endParaRPr lang="en-US" sz="520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54864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Beginner's Course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Python from Scratch • No Experience Required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Interactive Slides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Python?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a high-level, interpreted programming language created by Guido van Rossum in 1991.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emphasizes code readability and simplicity — you can do more with fewer lines than Java or C++.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used in web development, data science, AI, automation, scripting, and more.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consistently ranked as the most popular programming language in the world.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394960" y="1371600"/>
            <a:ext cx="347472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394960" y="1371600"/>
            <a:ext cx="54864" cy="18288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532120" y="14630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very first Python program!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World!")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Hello, World!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39496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'Batteries included' — powerful out of the box!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 Python?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rgbClr val="111D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Syntax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like English — easy to learn and write.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560320" cy="1371600"/>
          </a:xfrm>
          <a:prstGeom prst="rect">
            <a:avLst/>
          </a:prstGeom>
          <a:solidFill>
            <a:srgbClr val="111D30"/>
          </a:solidFill>
          <a:ln w="1905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383280" y="1463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apps, AI, data science, automation.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1371600"/>
          </a:xfrm>
          <a:prstGeom prst="rect">
            <a:avLst/>
          </a:prstGeom>
          <a:solidFill>
            <a:srgbClr val="111D30"/>
          </a:solidFill>
          <a:ln w="1905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72200" y="1463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Community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6172200" y="16916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Millions of devs, libraries, tutorials.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560320" cy="1371600"/>
          </a:xfrm>
          <a:prstGeom prst="rect">
            <a:avLst/>
          </a:prstGeom>
          <a:solidFill>
            <a:srgbClr val="111D30"/>
          </a:solidFill>
          <a:ln w="19050">
            <a:solidFill>
              <a:srgbClr val="FF4D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94360" y="3017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4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94360" y="32461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 most demanded language for data &amp; AI roles.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3246120" y="2926080"/>
            <a:ext cx="2560320" cy="1371600"/>
          </a:xfrm>
          <a:prstGeom prst="rect">
            <a:avLst/>
          </a:prstGeom>
          <a:solidFill>
            <a:srgbClr val="111D30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383280" y="3017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3383280" y="32461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to use and distribute forever.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6035040" y="2926080"/>
            <a:ext cx="2560320" cy="1371600"/>
          </a:xfrm>
          <a:prstGeom prst="rect">
            <a:avLst/>
          </a:prstGeom>
          <a:solidFill>
            <a:srgbClr val="111D30"/>
          </a:solidFill>
          <a:ln w="1905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172200" y="3017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6172200" y="32461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on Windows, Mac, Linux.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Python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python.org and download the latest version (3.x recommended).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Run installer and check 'Add Python to PATH'.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Mac: Use Homebrew → brew install python3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Usually pre-installed. Check with: python3 --version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84048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029200" y="1371600"/>
            <a:ext cx="54864" cy="27432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166360" y="1469218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Python version in terminal: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Python 3.11.x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the interactive shell: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print("Python is ready!")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is ready!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exit()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Use VS Code or PyCharm as your editor!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Zen of Python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38912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474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this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Beautiful is better than ugly.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Explicit is better than implicit.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Simple is better than complex.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Complex is better than complicated.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Readability counts.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Errors should never pass silently.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There should be one obvious way to do it.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 is better than never.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120640" y="137160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guiding principles of Python design.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'import this' in Python to see the full list.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ideas explain WHY Python code looks so clean.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encourages writing code that humans can read.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store data in memory. Python creates them automatically when you assign a value.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declare the type(loosely typed) — Python figures it out!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meaningful names: age, user_name, total_score.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are case-sensitive: age ≠ Age ≠ AGE.</a:t>
            </a:r>
            <a:endParaRPr lang="en-US" sz="14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0504D7-469D-7547-344A-6236E8656C0F}"/>
              </a:ext>
            </a:extLst>
          </p:cNvPr>
          <p:cNvGrpSpPr/>
          <p:nvPr/>
        </p:nvGrpSpPr>
        <p:grpSpPr>
          <a:xfrm>
            <a:off x="454457" y="3175680"/>
            <a:ext cx="4986223" cy="1371600"/>
            <a:chOff x="454457" y="3657600"/>
            <a:chExt cx="4986223" cy="1371600"/>
          </a:xfrm>
        </p:grpSpPr>
        <p:sp>
          <p:nvSpPr>
            <p:cNvPr id="7" name="Shape 5"/>
            <p:cNvSpPr/>
            <p:nvPr/>
          </p:nvSpPr>
          <p:spPr>
            <a:xfrm>
              <a:off x="685800" y="3657600"/>
              <a:ext cx="4572000" cy="1371600"/>
            </a:xfrm>
            <a:prstGeom prst="rect">
              <a:avLst/>
            </a:prstGeom>
            <a:solidFill>
              <a:srgbClr val="0D1117"/>
            </a:solidFill>
            <a:ln w="1270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Shape 6"/>
            <p:cNvSpPr/>
            <p:nvPr/>
          </p:nvSpPr>
          <p:spPr>
            <a:xfrm>
              <a:off x="454457" y="3657600"/>
              <a:ext cx="60350" cy="1371600"/>
            </a:xfrm>
            <a:prstGeom prst="rect">
              <a:avLst/>
            </a:prstGeom>
            <a:solidFill>
              <a:srgbClr val="00D4FF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 7"/>
            <p:cNvSpPr/>
            <p:nvPr/>
          </p:nvSpPr>
          <p:spPr>
            <a:xfrm>
              <a:off x="594360" y="3749040"/>
              <a:ext cx="4846320" cy="11887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>
                  <a:solidFill>
                    <a:srgbClr val="E8F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name = "Alice"          # string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E8F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age = 25                # integer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E8F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height = 5.7            # float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E8F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is_student = True       # boolean</a:t>
              </a:r>
              <a:endParaRPr lang="en-US" sz="1100"/>
            </a:p>
            <a:p>
              <a:pPr marL="0" indent="0">
                <a:buNone/>
              </a:pP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E8F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print(name)    # Alice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E8F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print(age)     # 25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E8F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print(type(age))  # &lt;class 'int'&gt;</a:t>
              </a:r>
              <a:endParaRPr lang="en-US" sz="1100"/>
            </a:p>
          </p:txBody>
        </p:sp>
      </p:grpSp>
      <p:sp>
        <p:nvSpPr>
          <p:cNvPr id="10" name="Shape 8"/>
          <p:cNvSpPr/>
          <p:nvPr/>
        </p:nvSpPr>
        <p:spPr>
          <a:xfrm>
            <a:off x="5669280" y="1371600"/>
            <a:ext cx="3200400" cy="1371600"/>
          </a:xfrm>
          <a:prstGeom prst="rect">
            <a:avLst/>
          </a:prstGeom>
          <a:solidFill>
            <a:srgbClr val="111D30"/>
          </a:solidFill>
          <a:ln w="1905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806440" y="1463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Anatomy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806440" y="169164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=  'Alice'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↑        ↑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identifier  value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5669280" y="2926080"/>
            <a:ext cx="3200400" cy="1371600"/>
          </a:xfrm>
          <a:prstGeom prst="rect">
            <a:avLst/>
          </a:prstGeom>
          <a:solidFill>
            <a:srgbClr val="111D30"/>
          </a:solidFill>
          <a:ln w="1905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806440" y="30175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5806440" y="324612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my_var, count, total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2fast, my-var, class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Types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1737360"/>
          </a:xfrm>
          <a:prstGeom prst="rect">
            <a:avLst/>
          </a:prstGeom>
          <a:solidFill>
            <a:srgbClr val="0D1F38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-10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4114800" cy="1737360"/>
          </a:xfrm>
          <a:prstGeom prst="rect">
            <a:avLst/>
          </a:prstGeom>
          <a:solidFill>
            <a:srgbClr val="0D1F38"/>
          </a:solidFill>
          <a:ln w="1905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F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983480" y="1755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983480" y="2057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= -0.5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4114800" cy="1737360"/>
          </a:xfrm>
          <a:prstGeom prst="rect">
            <a:avLst/>
          </a:prstGeom>
          <a:solidFill>
            <a:srgbClr val="0D1F38"/>
          </a:solidFill>
          <a:ln w="1905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9436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594360" y="3675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String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594360" y="3977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"Alice"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= 'hi'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846320" y="3291840"/>
            <a:ext cx="4114800" cy="1737360"/>
          </a:xfrm>
          <a:prstGeom prst="rect">
            <a:avLst/>
          </a:prstGeom>
          <a:solidFill>
            <a:srgbClr val="0D1F38"/>
          </a:solidFill>
          <a:ln w="19050">
            <a:solidFill>
              <a:srgbClr val="FF4D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98348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4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4983480" y="3675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983480" y="3977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= True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= False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75488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"Python"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 = 'Hello'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Concatenation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= greeting + ", " + name   # Hello, Python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Length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print(len(name))   # 6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Upper / Lower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print(name.upper())   # PYTHON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print(name.lower())   # python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f-strings (modern way!)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30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print(f"My age is {age}")   # My age is 30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394960" y="1371600"/>
            <a:ext cx="3474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text enclosed in quotes (single or double).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immutable — you can't change a character directly.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f-strings for clean string formatting.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support indexing: name[0] → 'P'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indexing: name[-1] → 'n'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String Methods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  Hello, Python World!  "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print(s.strip())         # Remove whitespace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print(s.replace("Python", "Beautiful"))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print(s.split(","))      # ['  Hello', ' Python...']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print(s.startswith("  Hello"))  # True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print(s.endswith("!  "))        # True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print(s.find("Python"))  # 9 (index)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print(s.count("l"))      # 3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print("42".isnumeric())  # True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print("hello".capitalize())  # Hello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print("hi".center(10, "*"))  # ****hi****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.strip() — removes whitespace from both ends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.replace(a, b) — replaces all occurrences of a with b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.split(sep) — splits into a list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.find(sub) — returns index of first match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.upper() / .lower() — change case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.format() — template formatting</a:t>
            </a:r>
            <a:endParaRPr lang="en-US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&amp; User Input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printing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print("Hello!")             # Hello!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print("Name:", "Alice")     # Name: Alice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values with sep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print("A", "B", "C", sep="-")  # A-B-C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newline at end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print("Enter name: ", end="")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 formatting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"Bob"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print(f"{name} is {age} years old")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 input (always returns string!)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input("What is your name? 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int(input("Your age? "))   # convert to int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print(f"Hi {name}, you are {age}!")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outputs text to the screen.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sep= to set separator between values.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end= to control what comes after the print.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always returns a STRING — convert it!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int(input()) converts user input to integer.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float(input()) converts to decimal number.</a:t>
            </a:r>
            <a:endParaRPr lang="en-US"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3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+ b)   # 13  — Addition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- b)   # 7   — Subtraction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* b)   # 30  — Multiplication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/ b)   # 3.333 — True Division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// b)  # 3   — Floor Division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% b)   # 1   — Modulus (remainder)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** b)  # 1000 — Exponentiation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Real example: km to miles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 = 100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 = km * 0.621371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print(f"{km} km = {miles:.2f} miles")</a:t>
            </a:r>
            <a:endParaRPr lang="en-US" sz="110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71600"/>
          <a:ext cx="3200400" cy="356616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0D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Operator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0D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Symbol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0D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Example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Addition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+ 3 = 8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Subtraction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5 - 3 = 2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Multiply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* 3 = 15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Divide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/ 2 = 2.5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Floor Div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// 2 = 2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Modulus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5 % 2 = 1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Power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** 8 = 256</a:t>
                      </a:r>
                      <a:endParaRPr lang="en-US" sz="11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       # Basic assignment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+= 5        # x = x + 5  → 15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-= 3        # x = x - 3  → 12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*= 2        # x = x * 2  → 24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/= 4        # x = x / 4  → 6.0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//= 2       # x = x // 2 → 3.0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**= 3       # x = x ** 3 → 27.0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%= 5        # x = x % 5  → 2.0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String multiplication!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= "-" * 20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print(line)   # --------------------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= "Ha"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print(word * 3)  # HaHaHa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 are shortcuts for updating variables.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+= 5 is the same as x = x + 5.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does NOT have ++ or -- operators like JavaScript/C++.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also has no === (strict equality) — use == instead.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* number repeats the string!</a:t>
            </a:r>
            <a:endParaRPr lang="en-US"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Logical Operators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10, 5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Comparison (returns True or False)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== b)   # False — equal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!= b)   # True  — not equal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&gt; b)    # True  — greater than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&lt; b)    # False — less than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&gt;= 10)  # True  — greater or equal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&lt;= 9)   # False — less or equal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Logical operators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&gt; 5 and b &lt; 10)  # True (both true)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&gt; 15 or b &lt; 10)  # True (one is true)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a &gt; 5)         # False (flipped)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 return Boolean: True or False.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and: both sides must be True.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at least one side must be True.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flips True to False and vice versa.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heavily in if-statements and while loops.</a:t>
            </a:r>
            <a:endParaRPr lang="en-US"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Membership Operators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Identity operators: compare memory location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[1, 2, 3]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is c)     # True  — same object!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is b)     # False — different objects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is not b) # True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Membership operators: check if in collection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"banana", "mango"]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print("apple" in fruits)      # True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print("grape" in fruits)      # False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print("grape" not in fruits)  # True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= "Python"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print("Py" in word)           # True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checks if two variables point to the same object in memory.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checks if values are equal (different from is!).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checks if a value exists inside a sequence.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checks if a value does NOT exist.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very useful in loops and conditionals.</a:t>
            </a:r>
            <a:endParaRPr lang="en-US"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1364186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18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print("You are an adult!")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if-else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print("You can vote.")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print("Too young to vote.")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if-elif-else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75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90: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A")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80: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B")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70: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C")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F")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Grade: C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uses INDENTATION (4 spaces) to define blocks — no curly braces!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runs code when condition is True.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= else if — checks another condition.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runs when all conditions are False.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chain as many elif blocks as needed.</a:t>
            </a:r>
            <a:endParaRPr lang="en-US"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Conditions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'and'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has_id = True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 and has_id: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print("Entry allowed!")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'or'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= "Saturday"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day == "Saturday" or day == "Sunday":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print("It's the weekend!")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'not'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is_raining = False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is_raining: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print("Let's go outside!")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Nested if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 15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num &gt; 0: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num % 2 == 0: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print("Positive even")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print("Positive odd")  # prints this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conditions with and, or, not.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and: ALL conditions must be True.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at least ONE must be True.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reverses the condition.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nest if-statements inside each other.</a:t>
            </a:r>
            <a:endParaRPr lang="en-US" sz="1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over a list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"banana", "cherry"]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fruits: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apple, banana, cherry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with range()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   # 0 1 2 3 4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   # 1 2 3 4 5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range(0, 10, 2):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   # 0 2 4 6 8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over string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char in "Python":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print(char)   # P y t h o n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 iterate over any sequence: list, string, range.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range(n) generates 0 to n-1.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range(start, stop) — from start up to (not including) stop.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range(start, stop, step) — with custom step.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variable (fruit, i, char) gets each value.</a:t>
            </a:r>
            <a:endParaRPr lang="en-US"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while loop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count &lt; 5: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print(count)   # 0 1 2 3 4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+= 1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While with user input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= ""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password != "secret123":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 = input("Enter password: 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print("Access granted!")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with break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+= 1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&gt;= 3: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    # exit the loop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0, 1, 2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with continue (skip even numbers)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% 2 == 0: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   # 1 3 5 7 9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 run as long as the condition is True.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careful of infinite loops — always update the condition!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the loop immediately.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skips to the next iteration.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True: creates an infinite loop (use break to exit).</a:t>
            </a:r>
            <a:endParaRPr lang="en-US" sz="1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 &amp; Reverse Iteration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9218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iter() and next()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= iter(numbers)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print(next(it))   # 10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print(next(it))   # 20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print(next(it))   # 30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Iterating in reverse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"banana", "cherry"]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fruit in reversed(fruits):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print(fruit)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cherry, banana, apple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Enumerate — get index + value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fruit in enumerate(fruits):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print(f"{i}: {fruit}")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0: apple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1: banana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2: cherry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Looping through nested lists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[[1,2], [3,4], [5,6]]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row in matrix: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num in row: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print(num, end=" ")   # 1 2 3 4 5 6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iter() creates an iterator from a sequence.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next() retrieves the next item.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reversed() iterates in reverse order.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enumerate() gives index + value pairs.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for 2D structures (matrices, grids).</a:t>
            </a:r>
            <a:endParaRPr lang="en-US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Functions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324644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function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print("Hello, World!")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   # Hello, World!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Function with parameters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greet_user(name):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print(f"Hello, {name}!")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greet_user("Alice")   # Hello, Alice!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Function with return value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add(5, 3)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   # 8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Function with multiple returns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min_max(numbers):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min(numbers), max(numbers)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lo, hi = min_max([3, 1, 9, 2])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print(lo, hi)   # 1 9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keyword defines a function.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group reusable code into named blocks.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inputs; arguments are the values passed in.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sends a value back to the caller.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return multiple values as a tuple.</a:t>
            </a:r>
            <a:endParaRPr lang="en-US" sz="1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Arguments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76072" y="13716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 arguments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greet(name, msg="Hello"):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print(f"{msg}, {name}!")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greet("Alice")           # Hello, Alice!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greet("Bob", "Howdy")   # Howdy, Bob!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Keyword arguments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order(item, qty=1, size="medium"):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print(f"{qty} {size} {item}(s)")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order("coffee", size="large", qty=2)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large coffee(s)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Arbitrary arguments (*args)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total(*numbers):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sum(numbers)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print(total(1, 2, 3, 4))   # 10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Arbitrary keyword arguments (**kwargs)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info(**details):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key, val in details.items():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print(f"{key}: {val}")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info(name="Alice", age=30, city="NYC")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args have a fallback value if not provided.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args let you pass values by name, in any order.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collects unlimited positional arguments into a tuple.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collects unlimited keyword arguments into a dict.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them: positional first, then keyword, then *args, then **kwargs.</a:t>
            </a:r>
            <a:endParaRPr lang="en-US" sz="1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Functions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Common built-ins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print(len("Python"))      # 6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print(abs(-42))           # 42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print(round(3.7))         # 4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print(min(5, 2, 9))       # 2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print(max(5, 2, 9))       # 9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print(sum([1, 2, 3, 4]))  # 10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print(type(3.14))         # &lt;class 'float'&gt;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 conversion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print(int("42"))          # 42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print(float("3.14"))      # 3.14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print(str(100))           # '100'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print(bool(0))            # False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print(bool("hi"))         # True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Evaluation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print(eval("2 + 3 * 4"))  # 14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print(chr(65))            # A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print(hex(255))           # 0xff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print(id(42))             # memory address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ships with dozens of built-in functions — no import needed.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int(), float(), str(), bool() convert between types.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works on strings, lists, tuples, dicts, sets.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abs() returns absolute value.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eval() evaluates a string as Python expression.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overwrite built-ins! (e.g., don't name a variable 'list').</a:t>
            </a:r>
            <a:endParaRPr lang="en-US" sz="1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Functions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Factorial using recursion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factorial(n):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factorial(n - 1)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print(factorial(5))   # 120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 * 4 * 3 * 2 * 1 = 120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 using recursion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fib(n):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fib(n-1) + fib(n-2)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range(8):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print(fib(i), end=" 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1 1 2 3 5 8 13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Countdown example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countdown(n):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0: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print("GO!")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countdown(n - 1)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recursive function calls itself.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 a BASE CASE to stop recursion.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base case → infinite recursion → crash!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memory stores each function call.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default recursion limit is 1000.</a:t>
            </a:r>
            <a:endParaRPr lang="en-US"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list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"banana", "cherry"]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[1, 2, 3, 4, 5]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= [1, "hello", True, 3.14]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by index (starts at 0)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print(fruits[0])    # apple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print(fruits[-1])   # cherry (last item)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Slicing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print(numbers[1:4])   # [2, 3, 4]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print(numbers[:3])    # [1, 2, 3]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print(numbers[::2])   # [1, 3, 5] (every 2nd)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Modifying lists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fruits[1] = "mango"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fruits.append("grape")    # add to end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fruits.insert(0, "kiwi") # insert at index 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['kiwi', 'apple', 'mango', 'cherry', 'grape']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ordered, mutable (changeable) collections.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ANY mix of data types.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starts at 0. Negative index counts from the end.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Slicing: list[start:stop:step].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very commonly used in Python programs!</a:t>
            </a:r>
            <a:endParaRPr lang="en-US" sz="13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Methods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[3, 1, 4, 1, 5, 9, 2, 6]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nums.append(7)          # Add 7 to end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nums.extend([8, 9])     # Add multiple items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nums.insert(0, 0)       # Insert 0 at index 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nums.remove(1)          # Remove first '1'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popped = nums.pop()     # Remove &amp; return last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             # Sort ascending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nums.sort(reverse=True) # Sort descending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nums.reverse()          # Reverse in place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nums.clear()            # Remove everything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["a", "b", "a", "c"]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print(fruits.count("a"))  # 2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print(fruits.index("b"))  # 1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print(len(fruits))        # 4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lists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list1 = [1, 2]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list2 = [3, 4]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print(list1 + list2)     # [1, 2, 3, 4]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.append() — adds one item to end.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.extend() — adds all items from another iterable.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.pop() — removes and returns last item (or by index).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.sort() — sorts in place (modifies original list).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.count() — counts occurrences of a value.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.index() — finds the position of a value.</a:t>
            </a:r>
            <a:endParaRPr lang="en-US" sz="13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tuples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coords = (10, 20)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 = ("red", "green", "blue")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= (42,)   # Note the comma!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by index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print(coords[0])   # 10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print(colors[-1])  # blue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Tuples are IMMUTABLE — you can't change them!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coords[0] = 99   ← This will raise TypeError!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Unpack tuples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coords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print(x, y)   # 10 20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Nested tuples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point_3d = (1, 2, (3, 4))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print(point_3d[2][0])   # 3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list ↔ tuple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my_list = [1, 2, 3]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my_tuple = tuple(my_list)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back_to_list = list(my_tuple)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print(type(my_tuple))   # &lt;class 'tuple'&gt;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are ordered, IMMUTABLE sequences.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() parentheses (or no brackets at all).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Single-item tuple needs a trailing comma: (42,)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lists due to immutability.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data that shouldn't change: coordinates, RGB colors.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Unpacking: a, b = (1, 2) assigns values to variables.</a:t>
            </a:r>
            <a:endParaRPr lang="en-US" sz="1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dictionary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= {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"Alice",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"age": 30,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"city": "New York"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values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print(person["name"])         # Alice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print(person.get("age"))      # 30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print(person.get("email", "N/A"))  # N/A (safe!)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Modify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person["age"] = 31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person["email"] = "alice@example.com"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person["city"]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Iterate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key, value in person.items():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print(f"{key}: {value}")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Keys, values, items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print(person.keys())    # dict_keys([...])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print(person.values())  # dict_values([...])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print(len(person))      # 3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store key-value pairs (like a real dictionary).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unique and immutable (strings, numbers, tuples).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.get() for safe access — returns None if key doesn't exist.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removes a key-value pair.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.items() returns (key, value) pairs for iteration.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Dicts are ordered (Python 3.7+).</a:t>
            </a:r>
            <a:endParaRPr lang="en-US" sz="13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Methods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{"a": 1, "b": 2, "c": 3}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d.update({"d": 4, "a": 99})   # add/update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print(d)  # {'a': 99, 'b': 2, 'c': 3, 'd': 4}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popped = d.pop("b")    # remove and return value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print(popped)          # 2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d.setdefault("e", 5)   # set if key not present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print(d.get("e"))      # 5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print(d.keys())        # all keys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print(d.values())      # all values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print(d.items())       # all (key, value) pairs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copy_d = d.copy()      # shallow copy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d.clear()              # empty the dict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from keys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new_d = dict.fromkeys(["x","y","z"], 0)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print(new_d)  # {'x': 0, 'y': 0, 'z': 0}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dicts (Python 3.9+)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{"a": 1} | {"b": 2}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.update() merges another dict in (overwrites duplicates).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.pop(key) removes and returns the value.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.setdefault() sets a value only if the key doesn't exist.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.fromkeys(list, val) creates dict with default values.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operator merges two dicts (Python 3.9+).</a:t>
            </a:r>
            <a:endParaRPr lang="en-US" sz="13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set (unique, unordered)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{"apple", "banana", "cherry", "apple"}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print(fruits)   # {'cherry', 'apple', 'banana'}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Note: 'apple' appears only once!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fruits.add("mango")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fruits.discard("banana")   # safe remove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operations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3, 4}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{3, 4, 5, 6}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&amp; b)             # {3, 4} — intersection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| b)             # {1,2,3,4,5,6} — union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- b)             # {1, 2} — difference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^ b)             # {1,2,5,6} — symmetric diff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subsets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print({1,2}.issubset(a))     # True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print(a.isdisjoint({7,8}))   # True (no overlap)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frozenset — immutable set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 = frozenset({1, 2, 3})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store UNIQUE, UNORDERED values — no duplicates!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{} or set() — but set() for empty sets (not {}).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= intersection, | = union, - = difference.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membership testing: 'apple' in fruits is O(1).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frozenset is an immutable version of set.</a:t>
            </a:r>
            <a:endParaRPr lang="en-US" sz="13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Sequences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"Hello, Python!"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slicing: [start:stop]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print(s[0:5])    # Hello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print(s[7:])     # Python!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print(s[:5])     # Hello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print(s[-7:])    # Python!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Slicing with step: [start:stop:step]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[0, 1, 2, 3, 4, 5, 6, 7, 8, 9]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print(nums[::2])    # [0,2,4,6,8] every 2nd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print(nums[1::2])   # [1,3,5,7,9] odd items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print(nums[::-1])   # [9,8,7,...,0] reversed!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Replace with slicing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nums[2:5] = [20, 30, 40]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 # [0,1,20,30,40,5,6,7,8,9]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slice object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my_slice = slice(1, 8, 2)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print(nums[my_slice])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sequence[start:stop:step]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inclusive (default 0).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stop: exclusive (default end).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how many to skip (default 1).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[::-1] is the classic way to reverse any sequence!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strings, lists, tuples.</a:t>
            </a:r>
            <a:endParaRPr lang="en-US" sz="13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Memory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memory address with id()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42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print(id(x))    # e.g. 140234567890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Assign by value (for immutables)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20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   # 10 — unchanged!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Assign by reference (for mutables like lists)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list1 = [1, 2, 3]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list2 = list1     # both point to same list!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list2.append(4)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print(list1)   # [1, 2, 3, 4] — changed!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Shallow copy vs deep copy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copy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= [[1, 2], [3, 4]]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shallow = copy.copy(original)     # 1 level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= copy.deepcopy(original)    # full copy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original[0][0] = 99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print(shallow[0][0])  # 99 (shared inner!)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print(deep[0][0])     # 1 (fully independent)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Immutables (int, str, tuple) are assigned by value.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Mutables (list, dict, set) are assigned by reference.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copy.copy() makes a shallow copy — nested objects still shared.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copy.deepcopy() makes a fully independent copy.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id() shows the memory address of an object.</a:t>
            </a:r>
            <a:endParaRPr lang="en-US" sz="1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Object-Oriented Programming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Constructor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breed):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self.breed = breed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Instance method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bark(self):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f"{self.name} says: Woof!"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info(self):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f"{self.name} is a {self.breed}"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instances (objects)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dog1 = Dog("Rex", "Labrador")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dog2 = Dog("Buddy", "Poodle")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print(dog1.bark())    # Rex says: Woof!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print(dog2.info())    # Buddy is a Poodle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attributes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print(dog1.name)      # Rex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dog1.age = 3          # Add attribute dynamically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print(dog1.age)       # 3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defines a blueprint for creating objects.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is the constructor — runs when object is created.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refers to the instance itself.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attributes: set with self.name = value.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methods: functions defined inside the class.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(instances) are created by calling: Dog('Rex', 'Lab').</a:t>
            </a:r>
            <a:endParaRPr lang="en-US" sz="13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Methods &amp; Static Methods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Counter: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0   # Class attribute (shared)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Counter.count += 1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self.id = Counter.count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get_count(cls):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cls.count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@staticmethod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description():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"I count instances of Counter"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 = Counter()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 = Counter()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 = Counter()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print(Counter.get_count())    # 3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print(Counter.description())  # I count instances...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print(c1.id, c2.id, c3.id)  # 1 2 3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attributes are shared across ALL instances.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@classmethod — takes cls (the class) as first arg, not self.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@staticmethod — no self or cls; just a regular function in the class namespace.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@classmethod for factory methods or class-level state.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@staticmethod for utility functions related to the class.</a:t>
            </a:r>
            <a:endParaRPr lang="en-US" sz="13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f"{self.name} makes a sound"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Dog(Animal):         # Dog inherits Animal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f"{self.name} barks!"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Cat(Animal):         # Cat inherits Animal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f"{self.name} meows!"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Puppy(Dog):          # Puppy inherits Dog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super().__init__(name)   # call parent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self.playful = True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animals = [Dog("Rex"), Cat("Whiskers"), Puppy("Spot")]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 in animals: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print(a.speak())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Rex barks!   Whiskers meows!   Spot barks!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child class gets all methods/attrs of parent.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Child(Parent) — declares inheritance.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parent methods by redefining them in child.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calls the parent class's method.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different classes, same method name, different behavior.</a:t>
            </a:r>
            <a:endParaRPr lang="en-US" sz="13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Methods (Dunder Methods)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Vector: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x, y):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 = x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self.y = y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          # print(v)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f"Vector({self.x}, {self.y})"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__repr__(self):         # developer repr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f"Vector(x={self.x}, y={self.y})"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__add__(self, other):   # v1 + v2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Vector(self.x + other.x, self.y + other.y)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__len__(self):          # len(v)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2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= Vector(1, 2)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= Vector(3, 4)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 = v1 + v2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print(v1)          # Vector(1, 2)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print(repr(v1))    # Vector(x=1, y=2)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print(v3)          # Vector(4, 6)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print(len(v1))     # 2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Dunder (double underscore) methods enable operator overloading.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__str__: defines print() output.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__repr__: developer-friendly string representation.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__add__: enables the + operator.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__len__: enables len() function.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__eq__, __lt__, __mul__, __getitem__, etc.</a:t>
            </a:r>
            <a:endParaRPr lang="en-US" sz="13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— Error Handling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try-except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int(input("Enter a number: "))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100 / x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print(f"Result: {result}")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print("That's not a valid number!")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ZeroDivisionError: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print("Can't divide by zero!")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Exception as e: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print(f"Unexpected error: {e}")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print("No errors occurred!")  # runs if no error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print("This always runs!")    # cleanup code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Raise your own exceptions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check_age(age):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age &lt; 0: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ValueError("Age can't be negative!")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age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check_age(-5)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 as e: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print(e)   # Age can't be negative!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code that might fail.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except: runs if an error (exception) occurs.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else: runs only if NO exception occurred.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finally: ALWAYS runs, even after errors (for cleanup).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creates your own exceptions.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specific exceptions for better error messages!</a:t>
            </a:r>
            <a:endParaRPr lang="en-US" sz="13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Operations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to file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open("data.txt", "w") as f: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f.write("Hello, File World!\n")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f.write("Second line.\n")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entire file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open("data.txt", "r") as f: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f.read()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print(content)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line by line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open("data.txt", "r") as f: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f: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print(line.strip())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Append to existing file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open("data.txt", "a") as f: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f.write("Appended line!\n")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all lines into a list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open("data.txt") as f: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lines = f.readlines()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print(lines)   # ['Hello...\n', 'Second...\n']</a:t>
            </a:r>
            <a:endParaRPr lang="en-US" sz="110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71600"/>
          <a:ext cx="3200400" cy="2438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0D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0D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Meaning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"r"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 (default)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"w"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Write (overwrite)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"a"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Append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"r+"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 + Write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"b"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8F0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Binary (add to any)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0" y="37490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open() automatically closes the file for you!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f.read() — entire file as string.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f.readlines() — list of lines.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f.readline() — one line at a time.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prefer with statement over manual close().</a:t>
            </a:r>
            <a:endParaRPr lang="en-US" sz="1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the File System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Current directory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print(os.getcwd())          # /home/user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files in directory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print(os.listdir("."))      # ['file1.txt', ...]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if file/folder exists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print(os.path.exists("data.txt"))  # True/False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 a file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os.path.exists("old_file.txt"):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os.remove("old_file.txt")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directory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os.makedirs("my_folder", exist_ok=True)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Rename a file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os.rename("old.txt", "new.txt")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file info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 = os.path.getsize("data.txt")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print(f"File size: {size} bytes")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Join paths (cross-platform!)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os.path.join("folder", "file.txt")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print(path)   # folder/file.txt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module provides file system operations.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os.getcwd() — current working directory.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os.listdir() — list contents of a folder.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os.path.exists() — check before deleting/opening.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os.path.join() — build paths that work on all OSes.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os.makedirs(exist_ok=True) — create nested folders.</a:t>
            </a:r>
            <a:endParaRPr lang="en-US" sz="13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Imports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full module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print(math.pi)         # 3.141592653589793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print(math.sqrt(16))   # 4.0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print(math.ceil(4.3))  # 5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specific functions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 import sqrt, pi, floor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print(sqrt(25))   # 5.0 (no 'math.' needed)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with alias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 as rnd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print(rnd.randint(1, 10))  # random 1-10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print(rnd.choice(["a","b","c"]))  # random item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your own module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mymodule.py → def greet(): ...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mymodule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mymodule.greet()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Useful standard library modules: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json, datetime, os, sys, re, collections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{"name": "Alice", "age": 30}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json_str = json.dumps(data)  # dict → JSON string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 = json.loads(json_str)  # JSON string → dict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are .py files you can import and reuse.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a huge Standard Library — no install needed.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module or from module import function.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to create an alias: import numpy as np.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3rd party: requests, numpy, pandas, flask.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3rd party modules: pip install module_name</a:t>
            </a:r>
            <a:endParaRPr lang="en-US" sz="13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Traditional loop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range(10):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squares.append(x ** 2)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comprehension (cleaner!)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[x ** 2 for x in range(10)]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print(squares)  # [0, 1, 4, 9, 16, 25, ...81]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condition (filter)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= [x for x in range(20) if x % 2 == 0]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print(evens)   # [0, 2, 4, 6, ..., 18]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Nested comprehension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[[1,2,3],[4,5,6],[7,8,9]]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= [num for row in matrix for num in row]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print(flat)   # [1, 2, 3, 4, 5, 6, 7, 8, 9]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Dictionary comprehension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["hello", "world", "python"]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lengths = {word: len(word) for word in words}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print(lengths)  # {'hello': 5, 'world': 5, 'python': 6}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comprehension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unique_squares = {x**2 for x in [-2,-1,0,1,2]}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print(unique_squares)  # {0, 1, 4}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 are a Pythonic way to build collections.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[expression for item in iterable if condition]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comprehension: {k: v for k, v in ...}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comprehension: {expr for item in iterable}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concise than loops, but don't over-complicate!</a:t>
            </a:r>
            <a:endParaRPr lang="en-US" sz="1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Regular function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square(x):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** 2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equivalent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 = lambda x: x ** 2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print(square(5))   # 25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with multiple args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= lambda a, b: a + b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print(add(3, 7))   # 10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Used with sorted()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[("Alice", 90), ("Bob", 85), ("Carol", 92)]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sorted_by_grade = sorted(students, key=lambda s: s[1])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print(sorted_by_grade)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[('Bob', 85), ('Alice', 90), ('Carol', 92)]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map() — apply to all items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[1, 2, 3, 4, 5]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doubled = list(map(lambda x: x*2, numbers))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print(doubled)   # [2, 4, 6, 8, 10]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filter() — keep matching items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odd = list(filter(lambda x: x % 2 != 0, numbers))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print(odd)   # [1, 3, 5]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= anonymous (unnamed) one-line function.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lambda args: expression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need a simple function once.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map(func, iterable) applies function to every item.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filter(func, iterable) keeps items where func returns True.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 with key= is the most common lambda use case.</a:t>
            </a:r>
            <a:endParaRPr lang="en-US" sz="13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Generator function (uses yield)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count_up(n):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 n: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i    # pause and return i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+= 1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 = count_up(5)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print(next(gen))   # 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print(next(gen))   # 1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print(next(gen))   # 2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over generator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num in count_up(5):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print(num, end=" ")   # 0 1 2 3 4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Generator expression (like list comp)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even_gen = (x for x in range(100) if x % 2 == 0)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print(next(even_gen))   # 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print(next(even_gen))   # 2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Infinite generator!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infinite_counter():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+= 1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produce values lazily — one at a time.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yield instead of return — pauses the function.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efficient: don't create the whole list at once.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large data streams you can't load in memory.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expressions: (expr for x in ...) with () not [].</a:t>
            </a:r>
            <a:endParaRPr lang="en-US" sz="13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Decorator = function that wraps another function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logger(func):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print(f"Calling: {func.__name__}")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func(*args, **kwargs)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print(f"Done!")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@logger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print(f"Hello, {name}!")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greet("Alice")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Calling: greet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Hello, Alice!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Done!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Timing decorator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timer(func):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 = time.time()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func(*args, **kwargs)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 = time.time()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print(f"Took {end-start:.4f}s")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@timer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slow_function():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time.sleep(0.1)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 wrap a function to add extra behavior.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@decorator is syntactic sugar for: func = decorator(func).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 logging, timing, authentication, caching.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 function receives *args, **kwargs to pass-through.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stack multiple decorators on one function.</a:t>
            </a:r>
            <a:endParaRPr lang="en-US" sz="13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Operators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12  # binary: 1100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10  # binary: 1010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&amp; b)    # 8   — AND  (1000)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| b)    # 14  — OR   (1110)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^ b)    # 6   — XOR  (0110)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print(~a)       # -13 — NOT  (flip all bits)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&lt;&lt; 1)   # 24  — left shift  (11000)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&gt;&gt; 1)   # 6   — right shift (110)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Practical example: check if number is even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is_even(n):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(n &amp; 1) == 0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print(is_even(4))   # True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print(is_even(7))   # False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Flags using bitwise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 = 0b100  # 4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= 0b010  # 2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 = 0b001  # 1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= READ | WRITE  # read+write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print(bool(permission &amp; READ))   # True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operators work on binary representations of integers.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= AND: 1 only if BOTH bits are 1.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= OR: 1 if at least one bit is 1.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 = XOR: 1 if bits are DIFFERENT.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 shifts bits left (multiply by 2), &gt;&gt; shifts right (divide by 2).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low-level programming, flags, and performance tricks.</a:t>
            </a:r>
            <a:endParaRPr lang="en-US" sz="13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Checking &amp; Duck Typing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type with type()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print(type(42))           # &lt;class 'int'&gt;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print(type("hello"))      # &lt;class 'str'&gt;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print(type([1,2,3]))      # &lt;class 'list'&gt;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isinstance() — recommended for checking!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print(isinstance(42, int))         # True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print(isinstance(42, (int, float))) # True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print(isinstance("hi", str))       # True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isnumeric() on strings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print("42".isnumeric())    # True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print("3.14".isnumeric())  # False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print("abc".isnumeric())   # False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callable() — check if callable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print(callable(print))     # True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print(callable(42))        # False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Duck typing: "if it walks like a duck..."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process(item):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works on anything with len()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f"Length: {len(item)}"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print(process("hello"))    # Length: 5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print(process([1,2,3]))    # Length: 3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returns the exact class of an object.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isinstance() checks if an object is an instance of a class.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isinstance() in practice — works with inheritance too.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typing: don't check type — just use the object!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it has a .append() method, treat it like a list.'</a:t>
            </a:r>
            <a:endParaRPr lang="en-US" sz="13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Memory Optimization with __slots__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Without __slots__ — uses a __dict__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Normal: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x, y):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 = x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self.y = y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Normal(1, 2)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p.z = 99   # can add any attribute!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print(p.__dict__)   # {'x': 1, 'y': 2, 'z': 99}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__slots__ — restricted &amp; memory efficient!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Optimized: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__slots__ = ["x", "y"]   # only these allowed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x, y):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 = x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self.y = y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= Optimized(1, 2)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p2.z = 99   ← AttributeError! Not in __slots__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print(p2.x)   # 1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Great when creating MILLIONS of objects!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print(sys.getsizeof(p))    # larger (has __dict__)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print(sys.getsizeof(p2))   # smaller!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__slots__ restricts which attributes instances can have.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per-instance __dict__, saving significant memory.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10-15x more memory efficient for large numbers of objects.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add arbitrary attributes after __slots__ is set.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for data-heavy objects (points, records, nodes).</a:t>
            </a:r>
            <a:endParaRPr lang="en-US" sz="13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MongoDB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Install: pip install pymongo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pymongo import MongoClient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 to MongoDB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MongoClient("mongodb://localhost:27017/")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client["my_database"]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 = db["users"]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Insert one document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{"name": "Alice", "age": 30, "city": "NYC"}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collection.insert_one(user)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print(result.inserted_id)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Insert many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= [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"Bob", "age": 25},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"Carol", "age": 35},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collection.insert_many(users)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documents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user in collection.find({"age": {"$gt": 25}}):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print(user)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collection.update_one(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"Alice"},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{"$set": {"age": 31}}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collection.delete_one({"name": "Bob"})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data as JSON-like documents.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 is the official Python driver for MongoDB.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insert_one() / insert_many() adds documents.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find() returns a cursor — iterate with for loop.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$gt, $lt, $in operators for queries.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flexible schemas and rapid prototyping.</a:t>
            </a:r>
            <a:endParaRPr lang="en-US" sz="13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Formatting — Three Ways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"Alice"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30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3.14159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% operator (old style)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 %s, you are %d" % (name, age))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print("Pi is %.2f" % pi)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.format() method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 {}, you are {}".format(name, age))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 {name}, age {age}".format(name=name, age=age))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print("Pi: {:.3f}".format(pi))    # Pi: 3.142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3: f-strings (recommended, Python 3.6+)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print(f"Hello {name}, you are {age}")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print(f"Pi rounded: {pi:.2f}")    # 3.14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print(f"Calc: {2 ** 10}")         # 1024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print(f"{name!u}")                # ALICE (uppercase)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print(f"{age:05d}")               # 00030 (zero pad)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print(f"{'centered':^20}")        #       centered      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print(f"{1234567:,}")             # 1,234,567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are the modern, preferred way (Python 3.6+).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expressions inside {}: f'{2+2}' → '4'.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.2f → 2 decimal places for floats.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:,  → adds comma separators to numbers.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:&gt;10, :&lt;10, :^10 → right, left, center alignment.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:05d → zero-padded integer.</a:t>
            </a:r>
            <a:endParaRPr lang="en-US" sz="13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Timers &amp; Time Module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5661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Measure elapsed time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= time.time()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some code ...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time.sleep(1)   # pause for 1 second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elapsed = time.time() - start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print(f"Elapsed: {elapsed:.2f}s")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Monotonic clock (for timing, won't go backward)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= time.monotonic()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time.sleep(0.5)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print(f"Monotonic: {time.monotonic() - start:.2f}s")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Schedule a function to run after delay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ring_alarm():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print("ALARM! Wake up!")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 = threading.Timer(3.0, ring_alarm)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timer.start()   # rings after 3 seconds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Cancel if needed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timer.cancel()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seconds2elapsed function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seconds2elapsed(seconds):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s = divmod(int(seconds), 60)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h, m = divmod(m, 60)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f"{h:02d}:{m:02d}:{s:02d}"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time.time() returns current time as seconds since epoch.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time.sleep(n) pauses execution for n seconds.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time.monotonic() is better for measuring intervals.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threading.Timer(delay, func) schedules a delayed function call.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divmod(a, b) returns quotient and remainder as a tuple.</a:t>
            </a:r>
            <a:endParaRPr lang="en-US" sz="13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0FF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0" y="274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>
                <a:solidFill>
                  <a:srgbClr val="000000"/>
                </a:solidFill>
              </a:rPr>
              <a:t>🎓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Covered Python Grammar!</a:t>
            </a:r>
            <a:endParaRPr lang="en-US" sz="3200"/>
          </a:p>
        </p:txBody>
      </p:sp>
      <p:sp>
        <p:nvSpPr>
          <p:cNvPr id="6" name="Shape 4"/>
          <p:cNvSpPr/>
          <p:nvPr/>
        </p:nvSpPr>
        <p:spPr>
          <a:xfrm>
            <a:off x="1828800" y="1691640"/>
            <a:ext cx="548640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28600" cy="32004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108960" y="1874520"/>
            <a:ext cx="228600" cy="32004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42900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&amp; Formatting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760720" y="1874520"/>
            <a:ext cx="228600" cy="32004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08076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57200" y="2441448"/>
            <a:ext cx="228600" cy="32004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77240" y="24414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(if/else)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3108960" y="2441448"/>
            <a:ext cx="228600" cy="32004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429000" y="24414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&amp; While Loops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5760720" y="2441448"/>
            <a:ext cx="228600" cy="32004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080760" y="24414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57200" y="3008376"/>
            <a:ext cx="228600" cy="32004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77240" y="30083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Tuples, Dicts, Sets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3108960" y="3008376"/>
            <a:ext cx="228600" cy="320040"/>
          </a:xfrm>
          <a:prstGeom prst="rect">
            <a:avLst/>
          </a:prstGeom>
          <a:solidFill>
            <a:srgbClr val="00FF9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429000" y="30083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&amp; Iterators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5760720" y="3008376"/>
            <a:ext cx="228600" cy="320040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080760" y="30083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&amp; Classes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457200" y="3575304"/>
            <a:ext cx="228600" cy="320040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77240" y="35753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3108960" y="3575304"/>
            <a:ext cx="228600" cy="320040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429000" y="35753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5760720" y="3575304"/>
            <a:ext cx="228600" cy="320040"/>
          </a:xfrm>
          <a:prstGeom prst="rect">
            <a:avLst/>
          </a:prstGeom>
          <a:solidFill>
            <a:srgbClr val="FF4D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080760" y="35753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Lambda, Generators, Decorators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914400" y="4160520"/>
            <a:ext cx="7315200" cy="685800"/>
          </a:xfrm>
          <a:prstGeom prst="rect">
            <a:avLst/>
          </a:prstGeom>
          <a:solidFill>
            <a:srgbClr val="0D2040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097280" y="4224528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Practice on HackerRank • Build projects • Explore pandas, Flask, Django • Keep coding! 🐍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4382C3FAF8FD49BE07D7E04DF0CF29" ma:contentTypeVersion="16" ma:contentTypeDescription="Create a new document." ma:contentTypeScope="" ma:versionID="cd205142ac46b857ad30107c1e152a65">
  <xsd:schema xmlns:xsd="http://www.w3.org/2001/XMLSchema" xmlns:xs="http://www.w3.org/2001/XMLSchema" xmlns:p="http://schemas.microsoft.com/office/2006/metadata/properties" xmlns:ns3="a59cfe67-ec4c-4345-b9c1-dfc9c978b825" xmlns:ns4="80a09399-27f9-4478-9061-02f5805e7748" targetNamespace="http://schemas.microsoft.com/office/2006/metadata/properties" ma:root="true" ma:fieldsID="8f0156bcadfc2ec80ba4cd96222f7998" ns3:_="" ns4:_="">
    <xsd:import namespace="a59cfe67-ec4c-4345-b9c1-dfc9c978b825"/>
    <xsd:import namespace="80a09399-27f9-4478-9061-02f5805e774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ServiceSearchProperties" minOccurs="0"/>
                <xsd:element ref="ns4:MediaLengthInSecond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9cfe67-ec4c-4345-b9c1-dfc9c978b8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a09399-27f9-4478-9061-02f5805e77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0a09399-27f9-4478-9061-02f5805e7748" xsi:nil="true"/>
  </documentManagement>
</p:properties>
</file>

<file path=customXml/itemProps1.xml><?xml version="1.0" encoding="utf-8"?>
<ds:datastoreItem xmlns:ds="http://schemas.openxmlformats.org/officeDocument/2006/customXml" ds:itemID="{A846C9D2-39CA-48FC-9516-DB7F58FAA8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88B76E-C165-4F31-B413-2162760BE22A}">
  <ds:schemaRefs>
    <ds:schemaRef ds:uri="80a09399-27f9-4478-9061-02f5805e7748"/>
    <ds:schemaRef ds:uri="a59cfe67-ec4c-4345-b9c1-dfc9c978b8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C11BF20-8622-4CF0-BA6E-A5020EF6318C}">
  <ds:schemaRefs>
    <ds:schemaRef ds:uri="80a09399-27f9-4478-9061-02f5805e7748"/>
    <ds:schemaRef ds:uri="a59cfe67-ec4c-4345-b9c1-dfc9c978b8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50</Slides>
  <Notes>50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Grammar - Complete Course</dc:title>
  <dc:subject>PptxGenJS Presentation</dc:subject>
  <dc:creator>PptxGenJS</dc:creator>
  <cp:revision>3</cp:revision>
  <dcterms:created xsi:type="dcterms:W3CDTF">2026-02-17T21:23:57Z</dcterms:created>
  <dcterms:modified xsi:type="dcterms:W3CDTF">2026-02-18T14:13:59Z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0x010100804382C3FAF8FD49BE07D7E04DF0CF29</vt:lpwstr>
  </property>
</Properties>
</file>